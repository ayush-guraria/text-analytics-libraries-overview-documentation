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57" r:id="rId3"/>
    <p:sldId id="258" r:id="rId4"/>
    <p:sldId id="259" r:id="rId5"/>
    <p:sldId id="277" r:id="rId6"/>
    <p:sldId id="261" r:id="rId7"/>
    <p:sldId id="266" r:id="rId8"/>
    <p:sldId id="267" r:id="rId9"/>
    <p:sldId id="268" r:id="rId10"/>
    <p:sldId id="271" r:id="rId11"/>
    <p:sldId id="275" r:id="rId12"/>
    <p:sldId id="276" r:id="rId13"/>
    <p:sldId id="278" r:id="rId14"/>
    <p:sldId id="279" r:id="rId15"/>
    <p:sldId id="280" r:id="rId16"/>
    <p:sldId id="281" r:id="rId17"/>
    <p:sldId id="282" r:id="rId18"/>
    <p:sldId id="283" r:id="rId19"/>
    <p:sldId id="285" r:id="rId20"/>
    <p:sldId id="286" r:id="rId21"/>
    <p:sldId id="264" r:id="rId22"/>
  </p:sldIdLst>
  <p:sldSz cx="9144000" cy="5143500" type="screen16x9"/>
  <p:notesSz cx="6858000" cy="9144000"/>
  <p:embeddedFontLst>
    <p:embeddedFont>
      <p:font typeface="Lato" panose="020B0604020202020204" charset="0"/>
      <p:regular r:id="rId24"/>
      <p:bold r:id="rId25"/>
      <p:italic r:id="rId26"/>
      <p:boldItalic r:id="rId27"/>
    </p:embeddedFont>
    <p:embeddedFont>
      <p:font typeface="Raleway" panose="020B0604020202020204" charset="0"/>
      <p:regular r:id="rId28"/>
      <p:bold r:id="rId29"/>
      <p:italic r:id="rId30"/>
      <p:boldItalic r:id="rId31"/>
    </p:embeddedFont>
    <p:embeddedFont>
      <p:font typeface="Roboto" panose="02000000000000000000" pitchFamily="2" charset="0"/>
      <p:regular r:id="rId32"/>
      <p:bold r:id="rId33"/>
      <p:italic r:id="rId34"/>
      <p:boldItalic r:id="rId35"/>
    </p:embeddedFont>
    <p:embeddedFont>
      <p:font typeface="Trebuchet MS" panose="020B060302020202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90" y="13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c6fa3c89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c6fa3c89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c6fa3c89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c6fa3c89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c6fa3c898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c6fa3c898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c6fa3c898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c6fa3c898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c6fa3c89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c6fa3c89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38668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b58e84cb0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b58e84cb0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b58e84cb0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b58e84cb0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28111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b58e84cb0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b58e84cb0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28572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b58e84cb0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b58e84cb0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27777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b58e84cb0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b58e84cb0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080382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b58e84cb0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b58e84cb0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88763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b58e84cb0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b58e84cb0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741260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c6fa3c89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c6fa3c89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509359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b58e84cb0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b58e84cb0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626302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b58e84cb0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b58e84cb0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846423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b58e84cb0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b58e84cb0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15024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b58e84cb0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b58e84cb0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36844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b58e84cb0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b58e84cb0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342421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b58e84cb0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b58e84cb0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994337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b58e84cb0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b58e84cb0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674319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c6fa3c898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c6fa3c898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w="38100" cap="flat" cmpd="sng">
            <a:solidFill>
              <a:schemeClr val="lt1"/>
            </a:solidFill>
            <a:prstDash val="solid"/>
            <a:round/>
            <a:headEnd type="none" w="sm" len="sm"/>
            <a:tailEnd type="none" w="sm" len="sm"/>
          </a:ln>
        </p:spPr>
      </p:cxnSp>
      <p:cxnSp>
        <p:nvCxnSpPr>
          <p:cNvPr id="11" name="Google Shape;11;p2"/>
          <p:cNvCxnSpPr/>
          <p:nvPr/>
        </p:nvCxnSpPr>
        <p:spPr>
          <a:xfrm>
            <a:off x="2477724" y="4740000"/>
            <a:ext cx="6244200" cy="0"/>
          </a:xfrm>
          <a:prstGeom prst="straightConnector1">
            <a:avLst/>
          </a:prstGeom>
          <a:noFill/>
          <a:ln w="19050" cap="flat" cmpd="sng">
            <a:solidFill>
              <a:schemeClr val="lt1"/>
            </a:solidFill>
            <a:prstDash val="solid"/>
            <a:round/>
            <a:headEnd type="none" w="sm" len="sm"/>
            <a:tailEnd type="none" w="sm" len="sm"/>
          </a:ln>
        </p:spPr>
      </p:cxnSp>
      <p:cxnSp>
        <p:nvCxnSpPr>
          <p:cNvPr id="12" name="Google Shape;12;p2"/>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13" name="Google Shape;13;p2"/>
          <p:cNvSpPr txBox="1">
            <a:spLocks noGrp="1"/>
          </p:cNvSpPr>
          <p:nvPr>
            <p:ph type="ctrTitle"/>
          </p:nvPr>
        </p:nvSpPr>
        <p:spPr>
          <a:xfrm>
            <a:off x="2371725" y="630225"/>
            <a:ext cx="6331500" cy="1542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4" name="Google Shape;14;p2"/>
          <p:cNvSpPr txBox="1">
            <a:spLocks noGrp="1"/>
          </p:cNvSpPr>
          <p:nvPr>
            <p:ph type="subTitle" idx="1"/>
          </p:nvPr>
        </p:nvSpPr>
        <p:spPr>
          <a:xfrm>
            <a:off x="2390267" y="3238450"/>
            <a:ext cx="6331500" cy="12417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5" name="Google Shape;15;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30" name="Google Shape;30;p5"/>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31" name="Google Shape;31;p5"/>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32" name="Google Shape;32;p5"/>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5"/>
          <p:cNvSpPr txBox="1">
            <a:spLocks noGrp="1"/>
          </p:cNvSpPr>
          <p:nvPr>
            <p:ph type="body" idx="1"/>
          </p:nvPr>
        </p:nvSpPr>
        <p:spPr>
          <a:xfrm>
            <a:off x="2400303" y="1602675"/>
            <a:ext cx="3071400" cy="3002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4" name="Google Shape;34;p5"/>
          <p:cNvSpPr txBox="1">
            <a:spLocks noGrp="1"/>
          </p:cNvSpPr>
          <p:nvPr>
            <p:ph type="body" idx="2"/>
          </p:nvPr>
        </p:nvSpPr>
        <p:spPr>
          <a:xfrm>
            <a:off x="5650572" y="1602675"/>
            <a:ext cx="3071400" cy="3002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5" name="Google Shape;35;p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8" name="Google Shape;38;p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41" name="Google Shape;41;p7"/>
          <p:cNvSpPr txBox="1">
            <a:spLocks noGrp="1"/>
          </p:cNvSpPr>
          <p:nvPr>
            <p:ph type="title"/>
          </p:nvPr>
        </p:nvSpPr>
        <p:spPr>
          <a:xfrm>
            <a:off x="319500" y="936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2" name="Google Shape;42;p7"/>
          <p:cNvSpPr txBox="1">
            <a:spLocks noGrp="1"/>
          </p:cNvSpPr>
          <p:nvPr>
            <p:ph type="body" idx="1"/>
          </p:nvPr>
        </p:nvSpPr>
        <p:spPr>
          <a:xfrm>
            <a:off x="319500" y="1846804"/>
            <a:ext cx="2808000" cy="2806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3" name="Google Shape;43;p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46" name="Google Shape;46;p8"/>
          <p:cNvSpPr txBox="1">
            <a:spLocks noGrp="1"/>
          </p:cNvSpPr>
          <p:nvPr>
            <p:ph type="title"/>
          </p:nvPr>
        </p:nvSpPr>
        <p:spPr>
          <a:xfrm>
            <a:off x="283103" y="712141"/>
            <a:ext cx="6244200" cy="38355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47" name="Google Shape;47;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50" name="Google Shape;50;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51" name="Google Shape;51;p9"/>
          <p:cNvSpPr txBox="1">
            <a:spLocks noGrp="1"/>
          </p:cNvSpPr>
          <p:nvPr>
            <p:ph type="title"/>
          </p:nvPr>
        </p:nvSpPr>
        <p:spPr>
          <a:xfrm>
            <a:off x="265500" y="1397350"/>
            <a:ext cx="4045200" cy="1318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a:endParaRPr/>
          </a:p>
        </p:txBody>
      </p:sp>
      <p:sp>
        <p:nvSpPr>
          <p:cNvPr id="52" name="Google Shape;52;p9"/>
          <p:cNvSpPr txBox="1">
            <a:spLocks noGrp="1"/>
          </p:cNvSpPr>
          <p:nvPr>
            <p:ph type="subTitle" idx="1"/>
          </p:nvPr>
        </p:nvSpPr>
        <p:spPr>
          <a:xfrm>
            <a:off x="265500" y="273537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54" name="Google Shape;54;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57" name="Google Shape;57;p10"/>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58" name="Google Shape;58;p10"/>
          <p:cNvSpPr txBox="1">
            <a:spLocks noGrp="1"/>
          </p:cNvSpPr>
          <p:nvPr>
            <p:ph type="body" idx="1"/>
          </p:nvPr>
        </p:nvSpPr>
        <p:spPr>
          <a:xfrm>
            <a:off x="328017" y="4226025"/>
            <a:ext cx="8388600" cy="3936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59" name="Google Shape;59;p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62" name="Google Shape;62;p11"/>
          <p:cNvCxnSpPr/>
          <p:nvPr/>
        </p:nvCxnSpPr>
        <p:spPr>
          <a:xfrm>
            <a:off x="425200" y="415650"/>
            <a:ext cx="8296800" cy="0"/>
          </a:xfrm>
          <a:prstGeom prst="straightConnector1">
            <a:avLst/>
          </a:prstGeom>
          <a:noFill/>
          <a:ln w="38100" cap="flat" cmpd="sng">
            <a:solidFill>
              <a:schemeClr val="dk2"/>
            </a:solidFill>
            <a:prstDash val="solid"/>
            <a:round/>
            <a:headEnd type="none" w="sm" len="sm"/>
            <a:tailEnd type="none" w="sm" len="sm"/>
          </a:ln>
        </p:spPr>
      </p:cxnSp>
      <p:sp>
        <p:nvSpPr>
          <p:cNvPr id="63" name="Google Shape;63;p11"/>
          <p:cNvSpPr txBox="1">
            <a:spLocks noGrp="1"/>
          </p:cNvSpPr>
          <p:nvPr>
            <p:ph type="title" hasCustomPrompt="1"/>
          </p:nvPr>
        </p:nvSpPr>
        <p:spPr>
          <a:xfrm>
            <a:off x="853950" y="1304850"/>
            <a:ext cx="74361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a:spLocks noGrp="1"/>
          </p:cNvSpPr>
          <p:nvPr>
            <p:ph type="body" idx="1"/>
          </p:nvPr>
        </p:nvSpPr>
        <p:spPr>
          <a:xfrm>
            <a:off x="853950" y="2919450"/>
            <a:ext cx="74361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5" name="Google Shape;65;p1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wiss-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400250" y="575950"/>
            <a:ext cx="6321600" cy="635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2410112" y="1595776"/>
            <a:ext cx="6321600" cy="3002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marL="914400" lvl="1"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marL="1371600" lvl="2"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marL="1828800" lvl="3"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marL="2286000" lvl="4"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marL="2743200" lvl="5"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marL="3200400" lvl="6"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marL="3657600" lvl="7"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marL="4114800" lvl="8" indent="-31750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3"/>
          <p:cNvSpPr txBox="1">
            <a:spLocks noGrp="1"/>
          </p:cNvSpPr>
          <p:nvPr>
            <p:ph type="ctrTitle"/>
          </p:nvPr>
        </p:nvSpPr>
        <p:spPr>
          <a:xfrm>
            <a:off x="2309562" y="1829325"/>
            <a:ext cx="4524875" cy="8757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Text Analytics</a:t>
            </a:r>
            <a:endParaRPr dirty="0"/>
          </a:p>
        </p:txBody>
      </p:sp>
      <p:sp>
        <p:nvSpPr>
          <p:cNvPr id="73" name="Google Shape;73;p13"/>
          <p:cNvSpPr txBox="1">
            <a:spLocks noGrp="1"/>
          </p:cNvSpPr>
          <p:nvPr>
            <p:ph type="subTitle" idx="1"/>
          </p:nvPr>
        </p:nvSpPr>
        <p:spPr>
          <a:xfrm>
            <a:off x="2619125" y="3895725"/>
            <a:ext cx="3905750" cy="59395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Ayush Guraria, Intern - Quest Global</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500"/>
                                        <p:tgtEl>
                                          <p:spTgt spid="7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3">
                                            <p:txEl>
                                              <p:pRg st="0" end="0"/>
                                            </p:txEl>
                                          </p:spTgt>
                                        </p:tgtEl>
                                        <p:attrNameLst>
                                          <p:attrName>style.visibility</p:attrName>
                                        </p:attrNameLst>
                                      </p:cBhvr>
                                      <p:to>
                                        <p:strVal val="visible"/>
                                      </p:to>
                                    </p:set>
                                    <p:animEffect transition="in" filter="fade">
                                      <p:cBhvr>
                                        <p:cTn id="10" dur="500"/>
                                        <p:tgtEl>
                                          <p:spTgt spid="7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xfrm>
            <a:off x="159301" y="1693575"/>
            <a:ext cx="4045200" cy="131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Trebuchet MS"/>
                <a:ea typeface="Trebuchet MS"/>
                <a:cs typeface="Trebuchet MS"/>
                <a:sym typeface="Trebuchet MS"/>
              </a:rPr>
              <a:t>Text Analytics</a:t>
            </a:r>
            <a:endParaRPr dirty="0">
              <a:latin typeface="Trebuchet MS"/>
              <a:ea typeface="Trebuchet MS"/>
              <a:cs typeface="Trebuchet MS"/>
              <a:sym typeface="Trebuchet MS"/>
            </a:endParaRPr>
          </a:p>
          <a:p>
            <a:pPr marL="0" lvl="0" indent="0" algn="ctr" rtl="0">
              <a:spcBef>
                <a:spcPts val="0"/>
              </a:spcBef>
              <a:spcAft>
                <a:spcPts val="0"/>
              </a:spcAft>
              <a:buClr>
                <a:schemeClr val="dk2"/>
              </a:buClr>
              <a:buSzPts val="1100"/>
              <a:buFont typeface="Arial"/>
              <a:buNone/>
            </a:pPr>
            <a:r>
              <a:rPr lang="en" dirty="0">
                <a:latin typeface="Trebuchet MS"/>
                <a:ea typeface="Trebuchet MS"/>
                <a:cs typeface="Trebuchet MS"/>
                <a:sym typeface="Trebuchet MS"/>
              </a:rPr>
              <a:t>Overview</a:t>
            </a:r>
            <a:endParaRPr dirty="0">
              <a:latin typeface="Trebuchet MS"/>
              <a:ea typeface="Trebuchet MS"/>
              <a:cs typeface="Trebuchet MS"/>
              <a:sym typeface="Trebuchet MS"/>
            </a:endParaRPr>
          </a:p>
        </p:txBody>
      </p:sp>
      <p:sp>
        <p:nvSpPr>
          <p:cNvPr id="79" name="Google Shape;79;p14"/>
          <p:cNvSpPr txBox="1">
            <a:spLocks noGrp="1"/>
          </p:cNvSpPr>
          <p:nvPr>
            <p:ph type="body" idx="2"/>
          </p:nvPr>
        </p:nvSpPr>
        <p:spPr>
          <a:xfrm>
            <a:off x="4572000" y="59085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sz="1600" dirty="0">
                <a:solidFill>
                  <a:srgbClr val="FFFFFF"/>
                </a:solidFill>
                <a:latin typeface="Roboto"/>
                <a:ea typeface="Roboto"/>
                <a:cs typeface="Roboto"/>
                <a:sym typeface="Roboto"/>
              </a:rPr>
              <a:t>Application of statistical and ML techniques to be able to predict any info from the mined data</a:t>
            </a:r>
            <a:endParaRPr sz="1500" dirty="0">
              <a:solidFill>
                <a:srgbClr val="FFFFF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500"/>
                                        <p:tgtEl>
                                          <p:spTgt spid="7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9">
                                            <p:txEl>
                                              <p:pRg st="0" end="0"/>
                                            </p:txEl>
                                          </p:spTgt>
                                        </p:tgtEl>
                                        <p:attrNameLst>
                                          <p:attrName>style.visibility</p:attrName>
                                        </p:attrNameLst>
                                      </p:cBhvr>
                                      <p:to>
                                        <p:strVal val="visible"/>
                                      </p:to>
                                    </p:set>
                                    <p:animEffect transition="in" filter="fade">
                                      <p:cBhvr>
                                        <p:cTn id="10" dur="500"/>
                                        <p:tgtEl>
                                          <p:spTgt spid="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5"/>
          <p:cNvSpPr txBox="1">
            <a:spLocks noGrp="1"/>
          </p:cNvSpPr>
          <p:nvPr>
            <p:ph type="title"/>
          </p:nvPr>
        </p:nvSpPr>
        <p:spPr>
          <a:xfrm>
            <a:off x="2400300" y="452125"/>
            <a:ext cx="6321600" cy="635400"/>
          </a:xfrm>
          <a:prstGeom prst="rect">
            <a:avLst/>
          </a:prstGeom>
        </p:spPr>
        <p:txBody>
          <a:bodyPr spcFirstLastPara="1" wrap="square" lIns="91425" tIns="91425" rIns="91425" bIns="91425" anchor="t" anchorCtr="0">
            <a:noAutofit/>
          </a:bodyPr>
          <a:lstStyle/>
          <a:p>
            <a:pPr marL="190500" lvl="0" indent="0" algn="l" rtl="0">
              <a:lnSpc>
                <a:spcPct val="120000"/>
              </a:lnSpc>
              <a:spcBef>
                <a:spcPts val="0"/>
              </a:spcBef>
              <a:spcAft>
                <a:spcPts val="500"/>
              </a:spcAft>
              <a:buNone/>
            </a:pPr>
            <a:r>
              <a:rPr lang="en" sz="2350" dirty="0">
                <a:solidFill>
                  <a:srgbClr val="232C39"/>
                </a:solidFill>
                <a:highlight>
                  <a:srgbClr val="FFFFFF"/>
                </a:highlight>
                <a:latin typeface="Trebuchet MS"/>
                <a:ea typeface="Trebuchet MS"/>
                <a:cs typeface="Trebuchet MS"/>
                <a:sym typeface="Trebuchet MS"/>
              </a:rPr>
              <a:t>Text Analytics: </a:t>
            </a:r>
            <a:r>
              <a:rPr lang="en" sz="2350" dirty="0">
                <a:solidFill>
                  <a:schemeClr val="dk1"/>
                </a:solidFill>
                <a:highlight>
                  <a:srgbClr val="FFFFFF"/>
                </a:highlight>
                <a:latin typeface="Trebuchet MS"/>
                <a:ea typeface="Trebuchet MS"/>
                <a:cs typeface="Trebuchet MS"/>
                <a:sym typeface="Trebuchet MS"/>
              </a:rPr>
              <a:t>Operations</a:t>
            </a:r>
            <a:endParaRPr dirty="0">
              <a:latin typeface="Trebuchet MS"/>
              <a:ea typeface="Trebuchet MS"/>
              <a:cs typeface="Trebuchet MS"/>
              <a:sym typeface="Trebuchet MS"/>
            </a:endParaRPr>
          </a:p>
        </p:txBody>
      </p:sp>
      <p:sp>
        <p:nvSpPr>
          <p:cNvPr id="85" name="Google Shape;85;p15"/>
          <p:cNvSpPr txBox="1">
            <a:spLocks noGrp="1"/>
          </p:cNvSpPr>
          <p:nvPr>
            <p:ph type="body" idx="1"/>
          </p:nvPr>
        </p:nvSpPr>
        <p:spPr>
          <a:xfrm>
            <a:off x="2400300" y="963700"/>
            <a:ext cx="6321600" cy="3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b="1" dirty="0">
                <a:solidFill>
                  <a:srgbClr val="666666"/>
                </a:solidFill>
                <a:latin typeface="Trebuchet MS"/>
                <a:ea typeface="Trebuchet MS"/>
                <a:cs typeface="Trebuchet MS"/>
                <a:sym typeface="Trebuchet MS"/>
              </a:rPr>
              <a:t>To name a few:</a:t>
            </a:r>
            <a:endParaRPr sz="1600" b="1" dirty="0">
              <a:solidFill>
                <a:srgbClr val="666666"/>
              </a:solidFill>
              <a:latin typeface="Trebuchet MS"/>
              <a:ea typeface="Trebuchet MS"/>
              <a:cs typeface="Trebuchet MS"/>
              <a:sym typeface="Trebuchet MS"/>
            </a:endParaRPr>
          </a:p>
          <a:p>
            <a:pPr marL="457200" lvl="0" indent="-314325" algn="l" rtl="0">
              <a:spcBef>
                <a:spcPts val="1200"/>
              </a:spcBef>
              <a:spcAft>
                <a:spcPts val="0"/>
              </a:spcAft>
              <a:buClr>
                <a:srgbClr val="666666"/>
              </a:buClr>
              <a:buSzPts val="1350"/>
              <a:buFont typeface="Roboto"/>
              <a:buChar char="●"/>
            </a:pPr>
            <a:r>
              <a:rPr lang="en" sz="1600" dirty="0">
                <a:solidFill>
                  <a:srgbClr val="666666"/>
                </a:solidFill>
                <a:latin typeface="Roboto"/>
                <a:ea typeface="Roboto"/>
                <a:cs typeface="Roboto"/>
                <a:sym typeface="Roboto"/>
              </a:rPr>
              <a:t>Associative analysis</a:t>
            </a:r>
            <a:endParaRPr sz="1600" dirty="0">
              <a:solidFill>
                <a:srgbClr val="666666"/>
              </a:solidFill>
              <a:latin typeface="Roboto"/>
              <a:ea typeface="Roboto"/>
              <a:cs typeface="Roboto"/>
              <a:sym typeface="Roboto"/>
            </a:endParaRPr>
          </a:p>
          <a:p>
            <a:pPr marL="457200" lvl="0" indent="-314325" algn="l" rtl="0">
              <a:spcBef>
                <a:spcPts val="1200"/>
              </a:spcBef>
              <a:spcAft>
                <a:spcPts val="0"/>
              </a:spcAft>
              <a:buClr>
                <a:srgbClr val="666666"/>
              </a:buClr>
              <a:buSzPts val="1350"/>
              <a:buFont typeface="Roboto"/>
              <a:buChar char="●"/>
            </a:pPr>
            <a:r>
              <a:rPr lang="en" sz="1600" dirty="0">
                <a:solidFill>
                  <a:srgbClr val="666666"/>
                </a:solidFill>
                <a:latin typeface="Roboto"/>
                <a:ea typeface="Roboto"/>
                <a:cs typeface="Roboto"/>
                <a:sym typeface="Roboto"/>
              </a:rPr>
              <a:t>Visualisation</a:t>
            </a:r>
            <a:endParaRPr sz="1600" dirty="0">
              <a:solidFill>
                <a:srgbClr val="666666"/>
              </a:solidFill>
              <a:latin typeface="Roboto"/>
              <a:ea typeface="Roboto"/>
              <a:cs typeface="Roboto"/>
              <a:sym typeface="Roboto"/>
            </a:endParaRPr>
          </a:p>
          <a:p>
            <a:pPr marL="457200" lvl="0" indent="-314325" algn="l" rtl="0">
              <a:spcBef>
                <a:spcPts val="1200"/>
              </a:spcBef>
              <a:spcAft>
                <a:spcPts val="0"/>
              </a:spcAft>
              <a:buClr>
                <a:srgbClr val="666666"/>
              </a:buClr>
              <a:buSzPts val="1350"/>
              <a:buFont typeface="Roboto"/>
              <a:buChar char="●"/>
            </a:pPr>
            <a:r>
              <a:rPr lang="en" sz="1600" dirty="0">
                <a:solidFill>
                  <a:srgbClr val="666666"/>
                </a:solidFill>
                <a:latin typeface="Roboto"/>
                <a:ea typeface="Roboto"/>
                <a:cs typeface="Roboto"/>
                <a:sym typeface="Roboto"/>
              </a:rPr>
              <a:t>Predictive Analysis</a:t>
            </a:r>
            <a:endParaRPr sz="1600" dirty="0">
              <a:solidFill>
                <a:srgbClr val="666666"/>
              </a:solidFill>
              <a:latin typeface="Roboto"/>
              <a:ea typeface="Roboto"/>
              <a:cs typeface="Roboto"/>
              <a:sym typeface="Roboto"/>
            </a:endParaRPr>
          </a:p>
          <a:p>
            <a:pPr marL="457200" lvl="0" indent="-314325" algn="l" rtl="0">
              <a:spcBef>
                <a:spcPts val="1200"/>
              </a:spcBef>
              <a:spcAft>
                <a:spcPts val="0"/>
              </a:spcAft>
              <a:buClr>
                <a:srgbClr val="666666"/>
              </a:buClr>
              <a:buSzPts val="1350"/>
              <a:buFont typeface="Roboto"/>
              <a:buChar char="●"/>
            </a:pPr>
            <a:r>
              <a:rPr lang="en" sz="1600" dirty="0">
                <a:solidFill>
                  <a:srgbClr val="666666"/>
                </a:solidFill>
                <a:latin typeface="Roboto"/>
                <a:ea typeface="Roboto"/>
                <a:cs typeface="Roboto"/>
                <a:sym typeface="Roboto"/>
              </a:rPr>
              <a:t>Information retrieval</a:t>
            </a:r>
            <a:endParaRPr sz="1600" dirty="0">
              <a:solidFill>
                <a:srgbClr val="666666"/>
              </a:solidFill>
              <a:latin typeface="Roboto"/>
              <a:ea typeface="Roboto"/>
              <a:cs typeface="Roboto"/>
              <a:sym typeface="Roboto"/>
            </a:endParaRPr>
          </a:p>
          <a:p>
            <a:pPr marL="457200" lvl="0" indent="-314325" algn="l" rtl="0">
              <a:spcBef>
                <a:spcPts val="1200"/>
              </a:spcBef>
              <a:spcAft>
                <a:spcPts val="0"/>
              </a:spcAft>
              <a:buClr>
                <a:srgbClr val="666666"/>
              </a:buClr>
              <a:buSzPts val="1350"/>
              <a:buFont typeface="Roboto"/>
              <a:buChar char="●"/>
            </a:pPr>
            <a:r>
              <a:rPr lang="en" sz="1600" dirty="0">
                <a:solidFill>
                  <a:srgbClr val="666666"/>
                </a:solidFill>
                <a:latin typeface="Roboto"/>
                <a:ea typeface="Roboto"/>
                <a:cs typeface="Roboto"/>
                <a:sym typeface="Roboto"/>
              </a:rPr>
              <a:t>Lexical analysis</a:t>
            </a:r>
            <a:endParaRPr sz="1600" dirty="0">
              <a:solidFill>
                <a:srgbClr val="666666"/>
              </a:solidFill>
              <a:latin typeface="Roboto"/>
              <a:ea typeface="Roboto"/>
              <a:cs typeface="Roboto"/>
              <a:sym typeface="Roboto"/>
            </a:endParaRPr>
          </a:p>
          <a:p>
            <a:pPr marL="457200" lvl="0" indent="-314325" algn="l" rtl="0">
              <a:spcBef>
                <a:spcPts val="1200"/>
              </a:spcBef>
              <a:spcAft>
                <a:spcPts val="0"/>
              </a:spcAft>
              <a:buClr>
                <a:srgbClr val="666666"/>
              </a:buClr>
              <a:buSzPts val="1350"/>
              <a:buFont typeface="Roboto"/>
              <a:buChar char="●"/>
            </a:pPr>
            <a:r>
              <a:rPr lang="en" sz="1600" dirty="0">
                <a:solidFill>
                  <a:srgbClr val="666666"/>
                </a:solidFill>
                <a:latin typeface="Roboto"/>
                <a:ea typeface="Roboto"/>
                <a:cs typeface="Roboto"/>
                <a:sym typeface="Roboto"/>
              </a:rPr>
              <a:t>Pattern recognition</a:t>
            </a:r>
            <a:endParaRPr sz="1600" dirty="0">
              <a:solidFill>
                <a:srgbClr val="666666"/>
              </a:solidFill>
              <a:latin typeface="Roboto"/>
              <a:ea typeface="Roboto"/>
              <a:cs typeface="Roboto"/>
              <a:sym typeface="Roboto"/>
            </a:endParaRPr>
          </a:p>
          <a:p>
            <a:pPr marL="457200" lvl="0" indent="-314325" algn="l" rtl="0">
              <a:spcBef>
                <a:spcPts val="1200"/>
              </a:spcBef>
              <a:spcAft>
                <a:spcPts val="1200"/>
              </a:spcAft>
              <a:buClr>
                <a:srgbClr val="666666"/>
              </a:buClr>
              <a:buSzPts val="1350"/>
              <a:buFont typeface="Roboto"/>
              <a:buChar char="●"/>
            </a:pPr>
            <a:r>
              <a:rPr lang="en" sz="1600" dirty="0">
                <a:solidFill>
                  <a:srgbClr val="666666"/>
                </a:solidFill>
                <a:latin typeface="Roboto"/>
                <a:ea typeface="Roboto"/>
                <a:cs typeface="Roboto"/>
                <a:sym typeface="Roboto"/>
              </a:rPr>
              <a:t>Tagging/annotation</a:t>
            </a:r>
            <a:endParaRPr b="1" dirty="0">
              <a:solidFill>
                <a:srgbClr val="666666"/>
              </a:solidFill>
              <a:highlight>
                <a:srgbClr val="FFFFFF"/>
              </a:highlight>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500"/>
                                        <p:tgtEl>
                                          <p:spTgt spid="8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5">
                                            <p:txEl>
                                              <p:pRg st="0" end="0"/>
                                            </p:txEl>
                                          </p:spTgt>
                                        </p:tgtEl>
                                        <p:attrNameLst>
                                          <p:attrName>style.visibility</p:attrName>
                                        </p:attrNameLst>
                                      </p:cBhvr>
                                      <p:to>
                                        <p:strVal val="visible"/>
                                      </p:to>
                                    </p:set>
                                    <p:animEffect transition="in" filter="fade">
                                      <p:cBhvr>
                                        <p:cTn id="10" dur="500"/>
                                        <p:tgtEl>
                                          <p:spTgt spid="8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5">
                                            <p:txEl>
                                              <p:pRg st="1" end="1"/>
                                            </p:txEl>
                                          </p:spTgt>
                                        </p:tgtEl>
                                        <p:attrNameLst>
                                          <p:attrName>style.visibility</p:attrName>
                                        </p:attrNameLst>
                                      </p:cBhvr>
                                      <p:to>
                                        <p:strVal val="visible"/>
                                      </p:to>
                                    </p:set>
                                    <p:animEffect transition="in" filter="fade">
                                      <p:cBhvr>
                                        <p:cTn id="15" dur="500"/>
                                        <p:tgtEl>
                                          <p:spTgt spid="8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5">
                                            <p:txEl>
                                              <p:pRg st="2" end="2"/>
                                            </p:txEl>
                                          </p:spTgt>
                                        </p:tgtEl>
                                        <p:attrNameLst>
                                          <p:attrName>style.visibility</p:attrName>
                                        </p:attrNameLst>
                                      </p:cBhvr>
                                      <p:to>
                                        <p:strVal val="visible"/>
                                      </p:to>
                                    </p:set>
                                    <p:animEffect transition="in" filter="fade">
                                      <p:cBhvr>
                                        <p:cTn id="20" dur="500"/>
                                        <p:tgtEl>
                                          <p:spTgt spid="8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5">
                                            <p:txEl>
                                              <p:pRg st="3" end="3"/>
                                            </p:txEl>
                                          </p:spTgt>
                                        </p:tgtEl>
                                        <p:attrNameLst>
                                          <p:attrName>style.visibility</p:attrName>
                                        </p:attrNameLst>
                                      </p:cBhvr>
                                      <p:to>
                                        <p:strVal val="visible"/>
                                      </p:to>
                                    </p:set>
                                    <p:animEffect transition="in" filter="fade">
                                      <p:cBhvr>
                                        <p:cTn id="25" dur="500"/>
                                        <p:tgtEl>
                                          <p:spTgt spid="85">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85">
                                            <p:txEl>
                                              <p:pRg st="4" end="4"/>
                                            </p:txEl>
                                          </p:spTgt>
                                        </p:tgtEl>
                                        <p:attrNameLst>
                                          <p:attrName>style.visibility</p:attrName>
                                        </p:attrNameLst>
                                      </p:cBhvr>
                                      <p:to>
                                        <p:strVal val="visible"/>
                                      </p:to>
                                    </p:set>
                                    <p:animEffect transition="in" filter="fade">
                                      <p:cBhvr>
                                        <p:cTn id="30" dur="500"/>
                                        <p:tgtEl>
                                          <p:spTgt spid="85">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85">
                                            <p:txEl>
                                              <p:pRg st="5" end="5"/>
                                            </p:txEl>
                                          </p:spTgt>
                                        </p:tgtEl>
                                        <p:attrNameLst>
                                          <p:attrName>style.visibility</p:attrName>
                                        </p:attrNameLst>
                                      </p:cBhvr>
                                      <p:to>
                                        <p:strVal val="visible"/>
                                      </p:to>
                                    </p:set>
                                    <p:animEffect transition="in" filter="fade">
                                      <p:cBhvr>
                                        <p:cTn id="35" dur="500"/>
                                        <p:tgtEl>
                                          <p:spTgt spid="85">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85">
                                            <p:txEl>
                                              <p:pRg st="6" end="6"/>
                                            </p:txEl>
                                          </p:spTgt>
                                        </p:tgtEl>
                                        <p:attrNameLst>
                                          <p:attrName>style.visibility</p:attrName>
                                        </p:attrNameLst>
                                      </p:cBhvr>
                                      <p:to>
                                        <p:strVal val="visible"/>
                                      </p:to>
                                    </p:set>
                                    <p:animEffect transition="in" filter="fade">
                                      <p:cBhvr>
                                        <p:cTn id="40" dur="500"/>
                                        <p:tgtEl>
                                          <p:spTgt spid="85">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5">
                                            <p:txEl>
                                              <p:pRg st="7" end="7"/>
                                            </p:txEl>
                                          </p:spTgt>
                                        </p:tgtEl>
                                        <p:attrNameLst>
                                          <p:attrName>style.visibility</p:attrName>
                                        </p:attrNameLst>
                                      </p:cBhvr>
                                      <p:to>
                                        <p:strVal val="visible"/>
                                      </p:to>
                                    </p:set>
                                    <p:animEffect transition="in" filter="fade">
                                      <p:cBhvr>
                                        <p:cTn id="45" dur="500"/>
                                        <p:tgtEl>
                                          <p:spTgt spid="8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8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6"/>
          <p:cNvSpPr txBox="1">
            <a:spLocks noGrp="1"/>
          </p:cNvSpPr>
          <p:nvPr>
            <p:ph type="title"/>
          </p:nvPr>
        </p:nvSpPr>
        <p:spPr>
          <a:xfrm>
            <a:off x="2400250" y="431250"/>
            <a:ext cx="6321600"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rebuchet MS"/>
                <a:ea typeface="Trebuchet MS"/>
                <a:cs typeface="Trebuchet MS"/>
                <a:sym typeface="Trebuchet MS"/>
              </a:rPr>
              <a:t>Use </a:t>
            </a:r>
            <a:r>
              <a:rPr lang="en" dirty="0">
                <a:solidFill>
                  <a:schemeClr val="dk1"/>
                </a:solidFill>
                <a:latin typeface="Trebuchet MS"/>
                <a:ea typeface="Trebuchet MS"/>
                <a:cs typeface="Trebuchet MS"/>
                <a:sym typeface="Trebuchet MS"/>
              </a:rPr>
              <a:t>Cases</a:t>
            </a:r>
            <a:endParaRPr dirty="0">
              <a:solidFill>
                <a:schemeClr val="dk1"/>
              </a:solidFill>
              <a:latin typeface="Trebuchet MS"/>
              <a:ea typeface="Trebuchet MS"/>
              <a:cs typeface="Trebuchet MS"/>
              <a:sym typeface="Trebuchet MS"/>
            </a:endParaRPr>
          </a:p>
        </p:txBody>
      </p:sp>
      <p:sp>
        <p:nvSpPr>
          <p:cNvPr id="91" name="Google Shape;91;p16"/>
          <p:cNvSpPr txBox="1">
            <a:spLocks noGrp="1"/>
          </p:cNvSpPr>
          <p:nvPr>
            <p:ph type="body" idx="1"/>
          </p:nvPr>
        </p:nvSpPr>
        <p:spPr>
          <a:xfrm>
            <a:off x="2181175" y="923775"/>
            <a:ext cx="6321600" cy="3010200"/>
          </a:xfrm>
          <a:prstGeom prst="rect">
            <a:avLst/>
          </a:prstGeom>
        </p:spPr>
        <p:txBody>
          <a:bodyPr spcFirstLastPara="1" wrap="square" lIns="91425" tIns="91425" rIns="91425" bIns="91425" anchor="t" anchorCtr="0">
            <a:noAutofit/>
          </a:bodyPr>
          <a:lstStyle/>
          <a:p>
            <a:pPr marL="457200" lvl="0" indent="-301625" algn="l" rtl="0">
              <a:spcBef>
                <a:spcPts val="1000"/>
              </a:spcBef>
              <a:spcAft>
                <a:spcPts val="0"/>
              </a:spcAft>
              <a:buClr>
                <a:schemeClr val="dk1"/>
              </a:buClr>
              <a:buSzPts val="1150"/>
              <a:buFont typeface="Trebuchet MS"/>
              <a:buChar char="●"/>
            </a:pPr>
            <a:r>
              <a:rPr lang="en" sz="1150" b="1" dirty="0">
                <a:solidFill>
                  <a:schemeClr val="dk1"/>
                </a:solidFill>
                <a:highlight>
                  <a:srgbClr val="FFFFFF"/>
                </a:highlight>
                <a:latin typeface="Trebuchet MS"/>
                <a:ea typeface="Trebuchet MS"/>
                <a:cs typeface="Trebuchet MS"/>
                <a:sym typeface="Trebuchet MS"/>
              </a:rPr>
              <a:t>Human Resource Management</a:t>
            </a:r>
            <a:endParaRPr sz="1150" b="1" dirty="0">
              <a:solidFill>
                <a:schemeClr val="dk1"/>
              </a:solidFill>
              <a:highlight>
                <a:srgbClr val="FFFFFF"/>
              </a:highlight>
              <a:latin typeface="Trebuchet MS"/>
              <a:ea typeface="Trebuchet MS"/>
              <a:cs typeface="Trebuchet MS"/>
              <a:sym typeface="Trebuchet MS"/>
            </a:endParaRPr>
          </a:p>
          <a:p>
            <a:pPr marL="914400" lvl="0" indent="-301625" algn="l" rtl="0">
              <a:lnSpc>
                <a:spcPct val="100000"/>
              </a:lnSpc>
              <a:spcBef>
                <a:spcPts val="1200"/>
              </a:spcBef>
              <a:spcAft>
                <a:spcPts val="0"/>
              </a:spcAft>
              <a:buClr>
                <a:srgbClr val="707070"/>
              </a:buClr>
              <a:buSzPts val="1150"/>
              <a:buFont typeface="Roboto"/>
              <a:buChar char="●"/>
            </a:pPr>
            <a:r>
              <a:rPr lang="en" sz="1150" dirty="0">
                <a:solidFill>
                  <a:srgbClr val="707070"/>
                </a:solidFill>
                <a:highlight>
                  <a:srgbClr val="FFFFFF"/>
                </a:highlight>
                <a:latin typeface="Roboto"/>
                <a:ea typeface="Roboto"/>
                <a:cs typeface="Roboto"/>
                <a:sym typeface="Roboto"/>
              </a:rPr>
              <a:t>To manage human resources, that aim at analyzing staff’s opinions, monitoring the level of employee satisfaction.</a:t>
            </a:r>
            <a:endParaRPr sz="1150" dirty="0">
              <a:solidFill>
                <a:srgbClr val="707070"/>
              </a:solidFill>
              <a:highlight>
                <a:srgbClr val="FFFFFF"/>
              </a:highlight>
              <a:latin typeface="Roboto"/>
              <a:ea typeface="Roboto"/>
              <a:cs typeface="Roboto"/>
              <a:sym typeface="Roboto"/>
            </a:endParaRPr>
          </a:p>
          <a:p>
            <a:pPr marL="914400" lvl="0" indent="-301625" algn="l" rtl="0">
              <a:lnSpc>
                <a:spcPct val="100000"/>
              </a:lnSpc>
              <a:spcBef>
                <a:spcPts val="1000"/>
              </a:spcBef>
              <a:spcAft>
                <a:spcPts val="0"/>
              </a:spcAft>
              <a:buClr>
                <a:srgbClr val="707070"/>
              </a:buClr>
              <a:buSzPts val="1150"/>
              <a:buFont typeface="Roboto"/>
              <a:buChar char="●"/>
            </a:pPr>
            <a:r>
              <a:rPr lang="en" sz="1150" dirty="0">
                <a:solidFill>
                  <a:srgbClr val="707070"/>
                </a:solidFill>
                <a:highlight>
                  <a:srgbClr val="FFFFFF"/>
                </a:highlight>
                <a:latin typeface="Roboto"/>
                <a:ea typeface="Roboto"/>
                <a:cs typeface="Roboto"/>
                <a:sym typeface="Roboto"/>
              </a:rPr>
              <a:t>Reading CVs for the selection of new personnel.</a:t>
            </a:r>
            <a:endParaRPr sz="1150" b="1" dirty="0">
              <a:solidFill>
                <a:schemeClr val="dk1"/>
              </a:solidFill>
              <a:highlight>
                <a:srgbClr val="FFFFFF"/>
              </a:highlight>
              <a:latin typeface="Trebuchet MS"/>
              <a:ea typeface="Trebuchet MS"/>
              <a:cs typeface="Trebuchet MS"/>
              <a:sym typeface="Trebuchet MS"/>
            </a:endParaRPr>
          </a:p>
          <a:p>
            <a:pPr marL="457200" lvl="0" indent="-301625" algn="l" rtl="0">
              <a:spcBef>
                <a:spcPts val="1000"/>
              </a:spcBef>
              <a:spcAft>
                <a:spcPts val="0"/>
              </a:spcAft>
              <a:buClr>
                <a:schemeClr val="dk1"/>
              </a:buClr>
              <a:buSzPts val="1150"/>
              <a:buFont typeface="Trebuchet MS"/>
              <a:buChar char="●"/>
            </a:pPr>
            <a:r>
              <a:rPr lang="en" sz="1150" b="1" dirty="0">
                <a:solidFill>
                  <a:schemeClr val="dk1"/>
                </a:solidFill>
                <a:highlight>
                  <a:srgbClr val="FFFFFF"/>
                </a:highlight>
                <a:latin typeface="Trebuchet MS"/>
                <a:ea typeface="Trebuchet MS"/>
                <a:cs typeface="Trebuchet MS"/>
                <a:sym typeface="Trebuchet MS"/>
              </a:rPr>
              <a:t>Market Analysis</a:t>
            </a:r>
            <a:endParaRPr sz="1150" b="1" dirty="0">
              <a:solidFill>
                <a:schemeClr val="dk1"/>
              </a:solidFill>
              <a:highlight>
                <a:srgbClr val="FFFFFF"/>
              </a:highlight>
              <a:latin typeface="Trebuchet MS"/>
              <a:ea typeface="Trebuchet MS"/>
              <a:cs typeface="Trebuchet MS"/>
              <a:sym typeface="Trebuchet MS"/>
            </a:endParaRPr>
          </a:p>
          <a:p>
            <a:pPr marL="914400" lvl="0" indent="-301625" algn="l" rtl="0">
              <a:lnSpc>
                <a:spcPct val="100000"/>
              </a:lnSpc>
              <a:spcBef>
                <a:spcPts val="1000"/>
              </a:spcBef>
              <a:spcAft>
                <a:spcPts val="0"/>
              </a:spcAft>
              <a:buClr>
                <a:srgbClr val="707070"/>
              </a:buClr>
              <a:buSzPts val="1150"/>
              <a:buFont typeface="Roboto"/>
              <a:buChar char="●"/>
            </a:pPr>
            <a:r>
              <a:rPr lang="en" sz="1150" dirty="0">
                <a:solidFill>
                  <a:srgbClr val="707070"/>
                </a:solidFill>
                <a:highlight>
                  <a:srgbClr val="FFFFFF"/>
                </a:highlight>
                <a:latin typeface="Roboto"/>
                <a:ea typeface="Roboto"/>
                <a:cs typeface="Roboto"/>
                <a:sym typeface="Roboto"/>
              </a:rPr>
              <a:t>For analyzing competitors or monitoring customers’ opinions</a:t>
            </a:r>
            <a:endParaRPr sz="1150" dirty="0">
              <a:solidFill>
                <a:srgbClr val="707070"/>
              </a:solidFill>
              <a:highlight>
                <a:srgbClr val="FFFFFF"/>
              </a:highlight>
              <a:latin typeface="Roboto"/>
              <a:ea typeface="Roboto"/>
              <a:cs typeface="Roboto"/>
              <a:sym typeface="Roboto"/>
            </a:endParaRPr>
          </a:p>
          <a:p>
            <a:pPr marL="914400" lvl="0" indent="-301625" algn="l" rtl="0">
              <a:lnSpc>
                <a:spcPct val="100000"/>
              </a:lnSpc>
              <a:spcBef>
                <a:spcPts val="1000"/>
              </a:spcBef>
              <a:spcAft>
                <a:spcPts val="0"/>
              </a:spcAft>
              <a:buClr>
                <a:srgbClr val="707070"/>
              </a:buClr>
              <a:buSzPts val="1150"/>
              <a:buFont typeface="Roboto"/>
              <a:buChar char="●"/>
            </a:pPr>
            <a:r>
              <a:rPr lang="en" sz="1150" dirty="0">
                <a:solidFill>
                  <a:srgbClr val="707070"/>
                </a:solidFill>
                <a:highlight>
                  <a:srgbClr val="FFFFFF"/>
                </a:highlight>
                <a:latin typeface="Roboto"/>
                <a:ea typeface="Roboto"/>
                <a:cs typeface="Roboto"/>
                <a:sym typeface="Roboto"/>
              </a:rPr>
              <a:t>Identifying new potential customers</a:t>
            </a:r>
            <a:endParaRPr sz="1150" dirty="0">
              <a:solidFill>
                <a:srgbClr val="707070"/>
              </a:solidFill>
              <a:highlight>
                <a:srgbClr val="FFFFFF"/>
              </a:highlight>
              <a:latin typeface="Roboto"/>
              <a:ea typeface="Roboto"/>
              <a:cs typeface="Roboto"/>
              <a:sym typeface="Roboto"/>
            </a:endParaRPr>
          </a:p>
          <a:p>
            <a:pPr marL="914400" lvl="0" indent="-301625" algn="l" rtl="0">
              <a:lnSpc>
                <a:spcPct val="100000"/>
              </a:lnSpc>
              <a:spcBef>
                <a:spcPts val="1000"/>
              </a:spcBef>
              <a:spcAft>
                <a:spcPts val="0"/>
              </a:spcAft>
              <a:buClr>
                <a:srgbClr val="707070"/>
              </a:buClr>
              <a:buSzPts val="1150"/>
              <a:buFont typeface="Roboto"/>
              <a:buChar char="●"/>
            </a:pPr>
            <a:r>
              <a:rPr lang="en" sz="1150" dirty="0">
                <a:solidFill>
                  <a:srgbClr val="707070"/>
                </a:solidFill>
                <a:highlight>
                  <a:srgbClr val="FFFFFF"/>
                </a:highlight>
                <a:latin typeface="Roboto"/>
                <a:ea typeface="Roboto"/>
                <a:cs typeface="Roboto"/>
                <a:sym typeface="Roboto"/>
              </a:rPr>
              <a:t>Determining the companies’ image through the analysis of press reviews and other relevant sources.</a:t>
            </a:r>
            <a:endParaRPr sz="1150" b="1" dirty="0">
              <a:solidFill>
                <a:schemeClr val="dk1"/>
              </a:solidFill>
              <a:highlight>
                <a:srgbClr val="FFFFFF"/>
              </a:highlight>
              <a:latin typeface="Trebuchet MS"/>
              <a:ea typeface="Trebuchet MS"/>
              <a:cs typeface="Trebuchet MS"/>
              <a:sym typeface="Trebuchet MS"/>
            </a:endParaRPr>
          </a:p>
          <a:p>
            <a:pPr marL="457200" lvl="0" indent="-301625" algn="l" rtl="0">
              <a:spcBef>
                <a:spcPts val="1000"/>
              </a:spcBef>
              <a:spcAft>
                <a:spcPts val="0"/>
              </a:spcAft>
              <a:buClr>
                <a:schemeClr val="dk1"/>
              </a:buClr>
              <a:buSzPts val="1150"/>
              <a:buFont typeface="Trebuchet MS"/>
              <a:buChar char="●"/>
            </a:pPr>
            <a:r>
              <a:rPr lang="en" sz="1150" b="1" dirty="0">
                <a:solidFill>
                  <a:schemeClr val="dk1"/>
                </a:solidFill>
                <a:highlight>
                  <a:srgbClr val="FFFFFF"/>
                </a:highlight>
                <a:latin typeface="Trebuchet MS"/>
                <a:ea typeface="Trebuchet MS"/>
                <a:cs typeface="Trebuchet MS"/>
                <a:sym typeface="Trebuchet MS"/>
              </a:rPr>
              <a:t>Social Media Data Analysis</a:t>
            </a:r>
            <a:endParaRPr sz="1150" b="1" dirty="0">
              <a:solidFill>
                <a:schemeClr val="dk1"/>
              </a:solidFill>
              <a:highlight>
                <a:srgbClr val="FFFFFF"/>
              </a:highlight>
              <a:latin typeface="Trebuchet MS"/>
              <a:ea typeface="Trebuchet MS"/>
              <a:cs typeface="Trebuchet MS"/>
              <a:sym typeface="Trebuchet MS"/>
            </a:endParaRPr>
          </a:p>
          <a:p>
            <a:pPr marL="914400" lvl="0" indent="-301625" algn="l" rtl="0">
              <a:spcBef>
                <a:spcPts val="1000"/>
              </a:spcBef>
              <a:spcAft>
                <a:spcPts val="0"/>
              </a:spcAft>
              <a:buClr>
                <a:srgbClr val="707070"/>
              </a:buClr>
              <a:buSzPts val="1150"/>
              <a:buFont typeface="Roboto"/>
              <a:buChar char="●"/>
            </a:pPr>
            <a:r>
              <a:rPr lang="en" sz="1150" dirty="0">
                <a:solidFill>
                  <a:srgbClr val="707070"/>
                </a:solidFill>
                <a:highlight>
                  <a:srgbClr val="FFFFFF"/>
                </a:highlight>
                <a:latin typeface="Roboto"/>
                <a:ea typeface="Roboto"/>
                <a:cs typeface="Roboto"/>
                <a:sym typeface="Roboto"/>
              </a:rPr>
              <a:t>Extracting opinions, emotions and sentiment and their relations with brands and products</a:t>
            </a:r>
            <a:endParaRPr sz="1150" dirty="0">
              <a:solidFill>
                <a:srgbClr val="707070"/>
              </a:solidFill>
              <a:highlight>
                <a:srgbClr val="FFFFFF"/>
              </a:highlight>
              <a:latin typeface="Roboto"/>
              <a:ea typeface="Roboto"/>
              <a:cs typeface="Roboto"/>
              <a:sym typeface="Roboto"/>
            </a:endParaRPr>
          </a:p>
          <a:p>
            <a:pPr marL="914400" lvl="0" indent="0" algn="l" rtl="0">
              <a:spcBef>
                <a:spcPts val="1200"/>
              </a:spcBef>
              <a:spcAft>
                <a:spcPts val="1200"/>
              </a:spcAft>
              <a:buNone/>
            </a:pPr>
            <a:endParaRPr sz="1150" b="1" dirty="0">
              <a:solidFill>
                <a:schemeClr val="dk1"/>
              </a:solidFill>
              <a:highlight>
                <a:srgbClr val="FFFFFF"/>
              </a:highlight>
              <a:latin typeface="Trebuchet MS"/>
              <a:ea typeface="Trebuchet MS"/>
              <a:cs typeface="Trebuchet MS"/>
              <a:sym typeface="Trebuchet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1">
                                            <p:txEl>
                                              <p:pRg st="0" end="0"/>
                                            </p:txEl>
                                          </p:spTgt>
                                        </p:tgtEl>
                                        <p:attrNameLst>
                                          <p:attrName>style.visibility</p:attrName>
                                        </p:attrNameLst>
                                      </p:cBhvr>
                                      <p:to>
                                        <p:strVal val="visible"/>
                                      </p:to>
                                    </p:set>
                                    <p:animEffect transition="in" filter="fade">
                                      <p:cBhvr>
                                        <p:cTn id="10" dur="500"/>
                                        <p:tgtEl>
                                          <p:spTgt spid="9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1">
                                            <p:txEl>
                                              <p:pRg st="1" end="1"/>
                                            </p:txEl>
                                          </p:spTgt>
                                        </p:tgtEl>
                                        <p:attrNameLst>
                                          <p:attrName>style.visibility</p:attrName>
                                        </p:attrNameLst>
                                      </p:cBhvr>
                                      <p:to>
                                        <p:strVal val="visible"/>
                                      </p:to>
                                    </p:set>
                                    <p:animEffect transition="in" filter="fade">
                                      <p:cBhvr>
                                        <p:cTn id="15" dur="500"/>
                                        <p:tgtEl>
                                          <p:spTgt spid="91">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1">
                                            <p:txEl>
                                              <p:pRg st="2" end="2"/>
                                            </p:txEl>
                                          </p:spTgt>
                                        </p:tgtEl>
                                        <p:attrNameLst>
                                          <p:attrName>style.visibility</p:attrName>
                                        </p:attrNameLst>
                                      </p:cBhvr>
                                      <p:to>
                                        <p:strVal val="visible"/>
                                      </p:to>
                                    </p:set>
                                    <p:animEffect transition="in" filter="fade">
                                      <p:cBhvr>
                                        <p:cTn id="20" dur="500"/>
                                        <p:tgtEl>
                                          <p:spTgt spid="9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1">
                                            <p:txEl>
                                              <p:pRg st="3" end="3"/>
                                            </p:txEl>
                                          </p:spTgt>
                                        </p:tgtEl>
                                        <p:attrNameLst>
                                          <p:attrName>style.visibility</p:attrName>
                                        </p:attrNameLst>
                                      </p:cBhvr>
                                      <p:to>
                                        <p:strVal val="visible"/>
                                      </p:to>
                                    </p:set>
                                    <p:animEffect transition="in" filter="fade">
                                      <p:cBhvr>
                                        <p:cTn id="25" dur="500"/>
                                        <p:tgtEl>
                                          <p:spTgt spid="91">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91">
                                            <p:txEl>
                                              <p:pRg st="4" end="4"/>
                                            </p:txEl>
                                          </p:spTgt>
                                        </p:tgtEl>
                                        <p:attrNameLst>
                                          <p:attrName>style.visibility</p:attrName>
                                        </p:attrNameLst>
                                      </p:cBhvr>
                                      <p:to>
                                        <p:strVal val="visible"/>
                                      </p:to>
                                    </p:set>
                                    <p:animEffect transition="in" filter="fade">
                                      <p:cBhvr>
                                        <p:cTn id="30" dur="500"/>
                                        <p:tgtEl>
                                          <p:spTgt spid="91">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91">
                                            <p:txEl>
                                              <p:pRg st="5" end="5"/>
                                            </p:txEl>
                                          </p:spTgt>
                                        </p:tgtEl>
                                        <p:attrNameLst>
                                          <p:attrName>style.visibility</p:attrName>
                                        </p:attrNameLst>
                                      </p:cBhvr>
                                      <p:to>
                                        <p:strVal val="visible"/>
                                      </p:to>
                                    </p:set>
                                    <p:animEffect transition="in" filter="fade">
                                      <p:cBhvr>
                                        <p:cTn id="35" dur="500"/>
                                        <p:tgtEl>
                                          <p:spTgt spid="91">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91">
                                            <p:txEl>
                                              <p:pRg st="6" end="6"/>
                                            </p:txEl>
                                          </p:spTgt>
                                        </p:tgtEl>
                                        <p:attrNameLst>
                                          <p:attrName>style.visibility</p:attrName>
                                        </p:attrNameLst>
                                      </p:cBhvr>
                                      <p:to>
                                        <p:strVal val="visible"/>
                                      </p:to>
                                    </p:set>
                                    <p:animEffect transition="in" filter="fade">
                                      <p:cBhvr>
                                        <p:cTn id="40" dur="500"/>
                                        <p:tgtEl>
                                          <p:spTgt spid="91">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91">
                                            <p:txEl>
                                              <p:pRg st="7" end="7"/>
                                            </p:txEl>
                                          </p:spTgt>
                                        </p:tgtEl>
                                        <p:attrNameLst>
                                          <p:attrName>style.visibility</p:attrName>
                                        </p:attrNameLst>
                                      </p:cBhvr>
                                      <p:to>
                                        <p:strVal val="visible"/>
                                      </p:to>
                                    </p:set>
                                    <p:animEffect transition="in" filter="fade">
                                      <p:cBhvr>
                                        <p:cTn id="45" dur="500"/>
                                        <p:tgtEl>
                                          <p:spTgt spid="91">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91">
                                            <p:txEl>
                                              <p:pRg st="8" end="8"/>
                                            </p:txEl>
                                          </p:spTgt>
                                        </p:tgtEl>
                                        <p:attrNameLst>
                                          <p:attrName>style.visibility</p:attrName>
                                        </p:attrNameLst>
                                      </p:cBhvr>
                                      <p:to>
                                        <p:strVal val="visible"/>
                                      </p:to>
                                    </p:set>
                                    <p:animEffect transition="in" filter="fade">
                                      <p:cBhvr>
                                        <p:cTn id="50" dur="500"/>
                                        <p:tgtEl>
                                          <p:spTgt spid="9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P spid="9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xfrm>
            <a:off x="265499" y="1648628"/>
            <a:ext cx="4045200" cy="131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latin typeface="Trebuchet MS"/>
                <a:ea typeface="Trebuchet MS"/>
                <a:cs typeface="Trebuchet MS"/>
                <a:sym typeface="Trebuchet MS"/>
              </a:rPr>
              <a:t>Text Analytics Software</a:t>
            </a:r>
            <a:endParaRPr dirty="0">
              <a:latin typeface="Trebuchet MS"/>
              <a:ea typeface="Trebuchet MS"/>
              <a:cs typeface="Trebuchet MS"/>
              <a:sym typeface="Trebuchet MS"/>
            </a:endParaRPr>
          </a:p>
        </p:txBody>
      </p:sp>
      <p:sp>
        <p:nvSpPr>
          <p:cNvPr id="79" name="Google Shape;79;p14"/>
          <p:cNvSpPr txBox="1">
            <a:spLocks noGrp="1"/>
          </p:cNvSpPr>
          <p:nvPr>
            <p:ph type="body" idx="2"/>
          </p:nvPr>
        </p:nvSpPr>
        <p:spPr>
          <a:xfrm>
            <a:off x="4833303" y="510377"/>
            <a:ext cx="3837000" cy="3345095"/>
          </a:xfrm>
          <a:prstGeom prst="rect">
            <a:avLst/>
          </a:prstGeom>
        </p:spPr>
        <p:txBody>
          <a:bodyPr spcFirstLastPara="1" wrap="square" lIns="91425" tIns="91425" rIns="91425" bIns="91425" anchor="ctr" anchorCtr="0">
            <a:noAutofit/>
          </a:bodyPr>
          <a:lstStyle/>
          <a:p>
            <a:pPr marL="0" indent="0">
              <a:spcAft>
                <a:spcPts val="1200"/>
              </a:spcAft>
              <a:buNone/>
            </a:pPr>
            <a:r>
              <a:rPr lang="en-US" b="1" dirty="0">
                <a:solidFill>
                  <a:schemeClr val="bg1"/>
                </a:solidFill>
                <a:latin typeface="Roboto" panose="020B0604020202020204" charset="0"/>
                <a:ea typeface="Roboto" panose="020B0604020202020204" charset="0"/>
                <a:cs typeface="Roboto"/>
                <a:sym typeface="Roboto"/>
              </a:rPr>
              <a:t>Open Source</a:t>
            </a:r>
          </a:p>
          <a:p>
            <a:pPr marL="285750" indent="-285750">
              <a:spcAft>
                <a:spcPts val="1200"/>
              </a:spcAft>
            </a:pPr>
            <a:r>
              <a:rPr lang="en-US" sz="1600" dirty="0">
                <a:solidFill>
                  <a:schemeClr val="bg1"/>
                </a:solidFill>
                <a:latin typeface="Roboto" panose="020B0604020202020204" charset="0"/>
                <a:ea typeface="Roboto" panose="020B0604020202020204" charset="0"/>
                <a:cs typeface="Roboto"/>
                <a:sym typeface="Roboto"/>
              </a:rPr>
              <a:t> </a:t>
            </a:r>
          </a:p>
          <a:p>
            <a:pPr marL="285750" indent="-285750">
              <a:spcAft>
                <a:spcPts val="1200"/>
              </a:spcAft>
            </a:pPr>
            <a:r>
              <a:rPr lang="en-US" sz="1600" dirty="0">
                <a:solidFill>
                  <a:schemeClr val="bg1"/>
                </a:solidFill>
                <a:latin typeface="Roboto" panose="020B0604020202020204" charset="0"/>
                <a:ea typeface="Roboto" panose="020B0604020202020204" charset="0"/>
              </a:rPr>
              <a:t> </a:t>
            </a:r>
          </a:p>
          <a:p>
            <a:pPr marL="285750" indent="-285750">
              <a:spcAft>
                <a:spcPts val="1200"/>
              </a:spcAft>
            </a:pPr>
            <a:r>
              <a:rPr lang="en-US" sz="1600" dirty="0">
                <a:solidFill>
                  <a:schemeClr val="bg1"/>
                </a:solidFill>
                <a:latin typeface="Roboto" panose="020B0604020202020204" charset="0"/>
                <a:ea typeface="Roboto" panose="020B0604020202020204" charset="0"/>
                <a:cs typeface="Trebuchet MS"/>
                <a:sym typeface="Trebuchet MS"/>
              </a:rPr>
              <a:t> </a:t>
            </a:r>
          </a:p>
          <a:p>
            <a:pPr marL="285750" indent="-285750">
              <a:spcAft>
                <a:spcPts val="1200"/>
              </a:spcAft>
            </a:pPr>
            <a:r>
              <a:rPr lang="en-US" sz="1600" dirty="0">
                <a:solidFill>
                  <a:schemeClr val="bg1"/>
                </a:solidFill>
                <a:latin typeface="Roboto" panose="020B0604020202020204" charset="0"/>
                <a:ea typeface="Roboto" panose="020B0604020202020204" charset="0"/>
                <a:cs typeface="Trebuchet MS"/>
                <a:sym typeface="Trebuchet MS"/>
              </a:rPr>
              <a:t> </a:t>
            </a:r>
          </a:p>
        </p:txBody>
      </p:sp>
      <p:sp>
        <p:nvSpPr>
          <p:cNvPr id="6" name="Google Shape;101;p18">
            <a:extLst>
              <a:ext uri="{FF2B5EF4-FFF2-40B4-BE49-F238E27FC236}">
                <a16:creationId xmlns:a16="http://schemas.microsoft.com/office/drawing/2014/main" id="{28A1F85D-8EE3-464A-9C16-998F5D58A405}"/>
              </a:ext>
            </a:extLst>
          </p:cNvPr>
          <p:cNvSpPr txBox="1">
            <a:spLocks/>
          </p:cNvSpPr>
          <p:nvPr/>
        </p:nvSpPr>
        <p:spPr>
          <a:xfrm>
            <a:off x="4927200" y="1419138"/>
            <a:ext cx="2809728" cy="63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1pPr>
            <a:lvl2pPr marR="0" lvl="1"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2pPr>
            <a:lvl3pPr marR="0" lvl="2"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3pPr>
            <a:lvl4pPr marR="0" lvl="3"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4pPr>
            <a:lvl5pPr marR="0" lvl="4"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5pPr>
            <a:lvl6pPr marR="0" lvl="5"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6pPr>
            <a:lvl7pPr marR="0" lvl="6"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7pPr>
            <a:lvl8pPr marR="0" lvl="7"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8pPr>
            <a:lvl9pPr marR="0" lvl="8"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9pPr>
          </a:lstStyle>
          <a:p>
            <a:pPr marL="190500" algn="l">
              <a:lnSpc>
                <a:spcPct val="120000"/>
              </a:lnSpc>
              <a:spcAft>
                <a:spcPts val="500"/>
              </a:spcAft>
            </a:pPr>
            <a:r>
              <a:rPr lang="en-US" sz="2350" dirty="0">
                <a:solidFill>
                  <a:srgbClr val="232C39"/>
                </a:solidFill>
                <a:highlight>
                  <a:srgbClr val="FFFFFF"/>
                </a:highlight>
                <a:latin typeface="Trebuchet MS"/>
                <a:ea typeface="Trebuchet MS"/>
                <a:cs typeface="Trebuchet MS"/>
                <a:sym typeface="Trebuchet MS"/>
              </a:rPr>
              <a:t>Apache </a:t>
            </a:r>
            <a:r>
              <a:rPr lang="en-US" sz="2350" dirty="0">
                <a:solidFill>
                  <a:schemeClr val="tx1"/>
                </a:solidFill>
                <a:highlight>
                  <a:srgbClr val="FFFFFF"/>
                </a:highlight>
                <a:latin typeface="Trebuchet MS"/>
                <a:ea typeface="Trebuchet MS"/>
                <a:cs typeface="Trebuchet MS"/>
                <a:sym typeface="Trebuchet MS"/>
              </a:rPr>
              <a:t>OpenNLP</a:t>
            </a:r>
          </a:p>
        </p:txBody>
      </p:sp>
      <p:sp>
        <p:nvSpPr>
          <p:cNvPr id="7" name="Google Shape;101;p18">
            <a:extLst>
              <a:ext uri="{FF2B5EF4-FFF2-40B4-BE49-F238E27FC236}">
                <a16:creationId xmlns:a16="http://schemas.microsoft.com/office/drawing/2014/main" id="{E37C7431-65FA-4597-ADDC-BA604FA082BA}"/>
              </a:ext>
            </a:extLst>
          </p:cNvPr>
          <p:cNvSpPr txBox="1">
            <a:spLocks/>
          </p:cNvSpPr>
          <p:nvPr/>
        </p:nvSpPr>
        <p:spPr>
          <a:xfrm>
            <a:off x="4927200" y="1865225"/>
            <a:ext cx="3096661" cy="63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1pPr>
            <a:lvl2pPr marR="0" lvl="1"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2pPr>
            <a:lvl3pPr marR="0" lvl="2"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3pPr>
            <a:lvl4pPr marR="0" lvl="3"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4pPr>
            <a:lvl5pPr marR="0" lvl="4"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5pPr>
            <a:lvl6pPr marR="0" lvl="5"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6pPr>
            <a:lvl7pPr marR="0" lvl="6"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7pPr>
            <a:lvl8pPr marR="0" lvl="7"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8pPr>
            <a:lvl9pPr marR="0" lvl="8"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9pPr>
          </a:lstStyle>
          <a:p>
            <a:pPr marL="190500" algn="l">
              <a:lnSpc>
                <a:spcPct val="120000"/>
              </a:lnSpc>
              <a:spcAft>
                <a:spcPts val="500"/>
              </a:spcAft>
            </a:pPr>
            <a:r>
              <a:rPr lang="en-US" sz="2350" dirty="0">
                <a:solidFill>
                  <a:srgbClr val="232C39"/>
                </a:solidFill>
                <a:highlight>
                  <a:srgbClr val="FFFFFF"/>
                </a:highlight>
                <a:latin typeface="Trebuchet MS"/>
                <a:ea typeface="Trebuchet MS"/>
                <a:cs typeface="Trebuchet MS"/>
                <a:sym typeface="Trebuchet MS"/>
              </a:rPr>
              <a:t>Stanford's </a:t>
            </a:r>
            <a:r>
              <a:rPr lang="en-US" sz="2350" dirty="0">
                <a:solidFill>
                  <a:schemeClr val="tx1"/>
                </a:solidFill>
                <a:highlight>
                  <a:srgbClr val="FFFFFF"/>
                </a:highlight>
                <a:latin typeface="Trebuchet MS"/>
                <a:ea typeface="Trebuchet MS"/>
                <a:cs typeface="Trebuchet MS"/>
                <a:sym typeface="Trebuchet MS"/>
              </a:rPr>
              <a:t>CoreNLP</a:t>
            </a:r>
          </a:p>
        </p:txBody>
      </p:sp>
      <p:sp>
        <p:nvSpPr>
          <p:cNvPr id="8" name="Google Shape;101;p18">
            <a:extLst>
              <a:ext uri="{FF2B5EF4-FFF2-40B4-BE49-F238E27FC236}">
                <a16:creationId xmlns:a16="http://schemas.microsoft.com/office/drawing/2014/main" id="{E8C396F3-C5A0-4C9F-8512-BD6FE4F121B3}"/>
              </a:ext>
            </a:extLst>
          </p:cNvPr>
          <p:cNvSpPr txBox="1">
            <a:spLocks/>
          </p:cNvSpPr>
          <p:nvPr/>
        </p:nvSpPr>
        <p:spPr>
          <a:xfrm>
            <a:off x="4927200" y="2307728"/>
            <a:ext cx="3371900" cy="6117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1pPr>
            <a:lvl2pPr marR="0" lvl="1"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2pPr>
            <a:lvl3pPr marR="0" lvl="2"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3pPr>
            <a:lvl4pPr marR="0" lvl="3"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4pPr>
            <a:lvl5pPr marR="0" lvl="4"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5pPr>
            <a:lvl6pPr marR="0" lvl="5"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6pPr>
            <a:lvl7pPr marR="0" lvl="6"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7pPr>
            <a:lvl8pPr marR="0" lvl="7"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8pPr>
            <a:lvl9pPr marR="0" lvl="8"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9pPr>
          </a:lstStyle>
          <a:p>
            <a:pPr marL="190500" algn="l">
              <a:lnSpc>
                <a:spcPct val="120000"/>
              </a:lnSpc>
              <a:spcAft>
                <a:spcPts val="500"/>
              </a:spcAft>
            </a:pPr>
            <a:r>
              <a:rPr lang="en-US" sz="2350" dirty="0">
                <a:solidFill>
                  <a:srgbClr val="232C39"/>
                </a:solidFill>
                <a:highlight>
                  <a:srgbClr val="FFFFFF"/>
                </a:highlight>
                <a:latin typeface="Trebuchet MS"/>
                <a:ea typeface="Trebuchet MS"/>
                <a:cs typeface="Trebuchet MS"/>
                <a:sym typeface="Trebuchet MS"/>
              </a:rPr>
              <a:t>GATE &amp; </a:t>
            </a:r>
            <a:r>
              <a:rPr lang="en-US" sz="2350" dirty="0">
                <a:solidFill>
                  <a:schemeClr val="tx1"/>
                </a:solidFill>
                <a:highlight>
                  <a:srgbClr val="FFFFFF"/>
                </a:highlight>
                <a:latin typeface="Trebuchet MS"/>
                <a:ea typeface="Trebuchet MS"/>
                <a:cs typeface="Trebuchet MS"/>
                <a:sym typeface="Trebuchet MS"/>
              </a:rPr>
              <a:t>Apache UIMA</a:t>
            </a:r>
          </a:p>
        </p:txBody>
      </p:sp>
      <p:sp>
        <p:nvSpPr>
          <p:cNvPr id="9" name="Google Shape;101;p18">
            <a:extLst>
              <a:ext uri="{FF2B5EF4-FFF2-40B4-BE49-F238E27FC236}">
                <a16:creationId xmlns:a16="http://schemas.microsoft.com/office/drawing/2014/main" id="{31DF22A2-213A-450B-A69F-D52FBCFCEE6C}"/>
              </a:ext>
            </a:extLst>
          </p:cNvPr>
          <p:cNvSpPr txBox="1">
            <a:spLocks/>
          </p:cNvSpPr>
          <p:nvPr/>
        </p:nvSpPr>
        <p:spPr>
          <a:xfrm>
            <a:off x="4927200" y="2753815"/>
            <a:ext cx="1981250" cy="7273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1pPr>
            <a:lvl2pPr marR="0" lvl="1"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2pPr>
            <a:lvl3pPr marR="0" lvl="2"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3pPr>
            <a:lvl4pPr marR="0" lvl="3"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4pPr>
            <a:lvl5pPr marR="0" lvl="4"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5pPr>
            <a:lvl6pPr marR="0" lvl="5"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6pPr>
            <a:lvl7pPr marR="0" lvl="6"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7pPr>
            <a:lvl8pPr marR="0" lvl="7"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8pPr>
            <a:lvl9pPr marR="0" lvl="8"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9pPr>
          </a:lstStyle>
          <a:p>
            <a:pPr marL="190500" algn="l">
              <a:lnSpc>
                <a:spcPct val="120000"/>
              </a:lnSpc>
              <a:spcAft>
                <a:spcPts val="500"/>
              </a:spcAft>
            </a:pPr>
            <a:r>
              <a:rPr lang="en-US" sz="2350" dirty="0">
                <a:solidFill>
                  <a:srgbClr val="232C39"/>
                </a:solidFill>
                <a:highlight>
                  <a:srgbClr val="FFFFFF"/>
                </a:highlight>
                <a:latin typeface="Trebuchet MS"/>
                <a:ea typeface="Trebuchet MS"/>
                <a:cs typeface="Trebuchet MS"/>
                <a:sym typeface="Trebuchet MS"/>
              </a:rPr>
              <a:t>Spa</a:t>
            </a:r>
            <a:r>
              <a:rPr lang="en-US" sz="2350" dirty="0">
                <a:solidFill>
                  <a:schemeClr val="tx1"/>
                </a:solidFill>
                <a:highlight>
                  <a:srgbClr val="FFFFFF"/>
                </a:highlight>
                <a:latin typeface="Trebuchet MS"/>
                <a:ea typeface="Trebuchet MS"/>
                <a:cs typeface="Trebuchet MS"/>
                <a:sym typeface="Trebuchet MS"/>
              </a:rPr>
              <a:t>Cy</a:t>
            </a:r>
          </a:p>
        </p:txBody>
      </p:sp>
    </p:spTree>
    <p:extLst>
      <p:ext uri="{BB962C8B-B14F-4D97-AF65-F5344CB8AC3E}">
        <p14:creationId xmlns:p14="http://schemas.microsoft.com/office/powerpoint/2010/main" val="1083313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500"/>
                                        <p:tgtEl>
                                          <p:spTgt spid="7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9">
                                            <p:txEl>
                                              <p:pRg st="0" end="0"/>
                                            </p:txEl>
                                          </p:spTgt>
                                        </p:tgtEl>
                                        <p:attrNameLst>
                                          <p:attrName>style.visibility</p:attrName>
                                        </p:attrNameLst>
                                      </p:cBhvr>
                                      <p:to>
                                        <p:strVal val="visible"/>
                                      </p:to>
                                    </p:set>
                                    <p:animEffect transition="in" filter="fade">
                                      <p:cBhvr>
                                        <p:cTn id="10" dur="500"/>
                                        <p:tgtEl>
                                          <p:spTgt spid="7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9">
                                            <p:txEl>
                                              <p:pRg st="1" end="1"/>
                                            </p:txEl>
                                          </p:spTgt>
                                        </p:tgtEl>
                                        <p:attrNameLst>
                                          <p:attrName>style.visibility</p:attrName>
                                        </p:attrNameLst>
                                      </p:cBhvr>
                                      <p:to>
                                        <p:strVal val="visible"/>
                                      </p:to>
                                    </p:set>
                                    <p:animEffect transition="in" filter="fade">
                                      <p:cBhvr>
                                        <p:cTn id="15" dur="500"/>
                                        <p:tgtEl>
                                          <p:spTgt spid="79">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9">
                                            <p:txEl>
                                              <p:pRg st="2" end="2"/>
                                            </p:txEl>
                                          </p:spTgt>
                                        </p:tgtEl>
                                        <p:attrNameLst>
                                          <p:attrName>style.visibility</p:attrName>
                                        </p:attrNameLst>
                                      </p:cBhvr>
                                      <p:to>
                                        <p:strVal val="visible"/>
                                      </p:to>
                                    </p:set>
                                    <p:animEffect transition="in" filter="fade">
                                      <p:cBhvr>
                                        <p:cTn id="20" dur="500"/>
                                        <p:tgtEl>
                                          <p:spTgt spid="7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9">
                                            <p:txEl>
                                              <p:pRg st="3" end="3"/>
                                            </p:txEl>
                                          </p:spTgt>
                                        </p:tgtEl>
                                        <p:attrNameLst>
                                          <p:attrName>style.visibility</p:attrName>
                                        </p:attrNameLst>
                                      </p:cBhvr>
                                      <p:to>
                                        <p:strVal val="visible"/>
                                      </p:to>
                                    </p:set>
                                    <p:animEffect transition="in" filter="fade">
                                      <p:cBhvr>
                                        <p:cTn id="25" dur="500"/>
                                        <p:tgtEl>
                                          <p:spTgt spid="79">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9">
                                            <p:txEl>
                                              <p:pRg st="4" end="4"/>
                                            </p:txEl>
                                          </p:spTgt>
                                        </p:tgtEl>
                                        <p:attrNameLst>
                                          <p:attrName>style.visibility</p:attrName>
                                        </p:attrNameLst>
                                      </p:cBhvr>
                                      <p:to>
                                        <p:strVal val="visible"/>
                                      </p:to>
                                    </p:set>
                                    <p:animEffect transition="in" filter="fade">
                                      <p:cBhvr>
                                        <p:cTn id="30" dur="500"/>
                                        <p:tgtEl>
                                          <p:spTgt spid="79">
                                            <p:txEl>
                                              <p:pRg st="4" end="4"/>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build="p"/>
      <p:bldP spid="6" grpId="0"/>
      <p:bldP spid="7" grpId="0"/>
      <p:bldP spid="8"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p>
            <a:pPr marL="190500" lvl="0" indent="0" algn="l" rtl="0">
              <a:lnSpc>
                <a:spcPct val="120000"/>
              </a:lnSpc>
              <a:spcBef>
                <a:spcPts val="0"/>
              </a:spcBef>
              <a:spcAft>
                <a:spcPts val="500"/>
              </a:spcAft>
              <a:buNone/>
            </a:pPr>
            <a:r>
              <a:rPr lang="en-US" sz="2350" dirty="0">
                <a:solidFill>
                  <a:srgbClr val="232C39"/>
                </a:solidFill>
                <a:highlight>
                  <a:srgbClr val="FFFFFF"/>
                </a:highlight>
                <a:latin typeface="Trebuchet MS"/>
                <a:ea typeface="Trebuchet MS"/>
                <a:cs typeface="Trebuchet MS"/>
                <a:sym typeface="Trebuchet MS"/>
              </a:rPr>
              <a:t>Apache </a:t>
            </a:r>
            <a:r>
              <a:rPr lang="en-US" sz="2350" dirty="0">
                <a:solidFill>
                  <a:schemeClr val="tx1"/>
                </a:solidFill>
                <a:highlight>
                  <a:srgbClr val="FFFFFF"/>
                </a:highlight>
                <a:latin typeface="Trebuchet MS"/>
                <a:ea typeface="Trebuchet MS"/>
                <a:cs typeface="Trebuchet MS"/>
                <a:sym typeface="Trebuchet MS"/>
              </a:rPr>
              <a:t>OpenNLP</a:t>
            </a:r>
          </a:p>
        </p:txBody>
      </p:sp>
      <p:sp>
        <p:nvSpPr>
          <p:cNvPr id="102" name="Google Shape;102;p18"/>
          <p:cNvSpPr txBox="1">
            <a:spLocks noGrp="1"/>
          </p:cNvSpPr>
          <p:nvPr>
            <p:ph type="body" idx="1"/>
          </p:nvPr>
        </p:nvSpPr>
        <p:spPr>
          <a:xfrm>
            <a:off x="2400250" y="1211350"/>
            <a:ext cx="6321600" cy="3393600"/>
          </a:xfrm>
          <a:prstGeom prst="rect">
            <a:avLst/>
          </a:prstGeom>
        </p:spPr>
        <p:txBody>
          <a:bodyPr spcFirstLastPara="1" wrap="square" lIns="91425" tIns="91425" rIns="91425" bIns="91425" anchor="t" anchorCtr="0">
            <a:noAutofit/>
          </a:bodyPr>
          <a:lstStyle/>
          <a:p>
            <a:pPr marL="285750" indent="-285750"/>
            <a:r>
              <a:rPr lang="en-US" sz="1600" dirty="0">
                <a:solidFill>
                  <a:srgbClr val="666666"/>
                </a:solidFill>
                <a:latin typeface="Roboto" panose="020B0604020202020204" charset="0"/>
                <a:ea typeface="Roboto" panose="020B0604020202020204" charset="0"/>
                <a:cs typeface="Trebuchet MS"/>
                <a:sym typeface="Trebuchet MS"/>
              </a:rPr>
              <a:t>Name Entity Recognition</a:t>
            </a:r>
          </a:p>
          <a:p>
            <a:pPr marL="285750" indent="-285750"/>
            <a:r>
              <a:rPr lang="en-US" sz="1600" dirty="0">
                <a:solidFill>
                  <a:srgbClr val="666666"/>
                </a:solidFill>
                <a:latin typeface="Roboto" panose="020B0604020202020204" charset="0"/>
                <a:ea typeface="Roboto" panose="020B0604020202020204" charset="0"/>
                <a:cs typeface="Trebuchet MS"/>
                <a:sym typeface="Trebuchet MS"/>
              </a:rPr>
              <a:t>Document Categorizer</a:t>
            </a:r>
          </a:p>
          <a:p>
            <a:pPr marL="285750" indent="-285750"/>
            <a:r>
              <a:rPr lang="en-US" sz="1600" dirty="0">
                <a:solidFill>
                  <a:srgbClr val="666666"/>
                </a:solidFill>
                <a:latin typeface="Roboto" panose="020B0604020202020204" charset="0"/>
                <a:ea typeface="Roboto" panose="020B0604020202020204" charset="0"/>
                <a:cs typeface="Trebuchet MS"/>
                <a:sym typeface="Trebuchet MS"/>
              </a:rPr>
              <a:t>Sentence Detection</a:t>
            </a:r>
          </a:p>
          <a:p>
            <a:pPr marL="285750" indent="-285750"/>
            <a:r>
              <a:rPr lang="en-US" sz="1600" dirty="0">
                <a:solidFill>
                  <a:srgbClr val="666666"/>
                </a:solidFill>
                <a:latin typeface="Roboto" panose="020B0604020202020204" charset="0"/>
                <a:ea typeface="Roboto" panose="020B0604020202020204" charset="0"/>
                <a:cs typeface="Trebuchet MS"/>
                <a:sym typeface="Trebuchet MS"/>
              </a:rPr>
              <a:t>Parts of Speech Tagging </a:t>
            </a:r>
          </a:p>
          <a:p>
            <a:pPr marL="285750" indent="-285750"/>
            <a:r>
              <a:rPr lang="en-US" sz="1600" dirty="0">
                <a:solidFill>
                  <a:srgbClr val="666666"/>
                </a:solidFill>
                <a:latin typeface="Roboto" panose="020B0604020202020204" charset="0"/>
                <a:ea typeface="Roboto" panose="020B0604020202020204" charset="0"/>
                <a:cs typeface="Trebuchet MS"/>
                <a:sym typeface="Trebuchet MS"/>
              </a:rPr>
              <a:t>Tokenization</a:t>
            </a:r>
          </a:p>
          <a:p>
            <a:pPr marL="285750" indent="-285750"/>
            <a:r>
              <a:rPr lang="en-US" sz="1600" dirty="0">
                <a:solidFill>
                  <a:srgbClr val="666666"/>
                </a:solidFill>
                <a:latin typeface="Roboto" panose="020B0604020202020204" charset="0"/>
                <a:ea typeface="Roboto" panose="020B0604020202020204" charset="0"/>
                <a:cs typeface="Trebuchet MS"/>
                <a:sym typeface="Trebuchet MS"/>
              </a:rPr>
              <a:t>Command Line Interface provided for convenience of experiments and training</a:t>
            </a:r>
          </a:p>
          <a:p>
            <a:pPr marL="0" indent="0">
              <a:buNone/>
            </a:pPr>
            <a:endParaRPr lang="en-US" sz="1600" dirty="0">
              <a:solidFill>
                <a:srgbClr val="666666"/>
              </a:solidFill>
              <a:latin typeface="Roboto" panose="020B0604020202020204" charset="0"/>
              <a:ea typeface="Roboto" panose="020B0604020202020204" charset="0"/>
              <a:cs typeface="Trebuchet MS"/>
              <a:sym typeface="Trebuchet MS"/>
            </a:endParaRPr>
          </a:p>
          <a:p>
            <a:pPr marL="285750" indent="-285750"/>
            <a:r>
              <a:rPr lang="en-US" sz="1600" dirty="0">
                <a:solidFill>
                  <a:srgbClr val="666666"/>
                </a:solidFill>
                <a:latin typeface="Roboto" panose="020B0604020202020204" charset="0"/>
                <a:ea typeface="Roboto" panose="020B0604020202020204" charset="0"/>
                <a:cs typeface="Trebuchet MS"/>
                <a:sym typeface="Trebuchet MS"/>
              </a:rPr>
              <a:t>Java Library</a:t>
            </a:r>
          </a:p>
          <a:p>
            <a:pPr marL="285750" indent="-285750"/>
            <a:r>
              <a:rPr lang="en-US" sz="1600" dirty="0">
                <a:solidFill>
                  <a:srgbClr val="666666"/>
                </a:solidFill>
                <a:latin typeface="Roboto" panose="020B0604020202020204" charset="0"/>
                <a:ea typeface="Roboto" panose="020B0604020202020204" charset="0"/>
                <a:cs typeface="Trebuchet MS"/>
                <a:sym typeface="Trebuchet MS"/>
              </a:rPr>
              <a:t>Price - Free</a:t>
            </a:r>
          </a:p>
          <a:p>
            <a:pPr marL="0" indent="0">
              <a:buNone/>
            </a:pPr>
            <a:endParaRPr lang="en-US" sz="1600" dirty="0">
              <a:solidFill>
                <a:srgbClr val="666666"/>
              </a:solidFill>
              <a:latin typeface="Roboto" panose="020B0604020202020204" charset="0"/>
              <a:ea typeface="Roboto" panose="020B0604020202020204" charset="0"/>
              <a:cs typeface="Trebuchet MS"/>
              <a:sym typeface="Trebuchet MS"/>
            </a:endParaRPr>
          </a:p>
        </p:txBody>
      </p:sp>
      <p:pic>
        <p:nvPicPr>
          <p:cNvPr id="3" name="Picture 2" descr="Logo&#10;&#10;Description automatically generated">
            <a:extLst>
              <a:ext uri="{FF2B5EF4-FFF2-40B4-BE49-F238E27FC236}">
                <a16:creationId xmlns:a16="http://schemas.microsoft.com/office/drawing/2014/main" id="{BEDEB61B-B875-41CD-9051-0152A0CABEDF}"/>
              </a:ext>
            </a:extLst>
          </p:cNvPr>
          <p:cNvPicPr>
            <a:picLocks noChangeAspect="1"/>
          </p:cNvPicPr>
          <p:nvPr/>
        </p:nvPicPr>
        <p:blipFill>
          <a:blip r:embed="rId3"/>
          <a:stretch>
            <a:fillRect/>
          </a:stretch>
        </p:blipFill>
        <p:spPr>
          <a:xfrm>
            <a:off x="0" y="1596915"/>
            <a:ext cx="2534571" cy="97483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500"/>
                                        <p:tgtEl>
                                          <p:spTgt spid="10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2">
                                            <p:txEl>
                                              <p:pRg st="0" end="0"/>
                                            </p:txEl>
                                          </p:spTgt>
                                        </p:tgtEl>
                                        <p:attrNameLst>
                                          <p:attrName>style.visibility</p:attrName>
                                        </p:attrNameLst>
                                      </p:cBhvr>
                                      <p:to>
                                        <p:strVal val="visible"/>
                                      </p:to>
                                    </p:set>
                                    <p:animEffect transition="in" filter="fade">
                                      <p:cBhvr>
                                        <p:cTn id="15" dur="500"/>
                                        <p:tgtEl>
                                          <p:spTgt spid="10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2">
                                            <p:txEl>
                                              <p:pRg st="1" end="1"/>
                                            </p:txEl>
                                          </p:spTgt>
                                        </p:tgtEl>
                                        <p:attrNameLst>
                                          <p:attrName>style.visibility</p:attrName>
                                        </p:attrNameLst>
                                      </p:cBhvr>
                                      <p:to>
                                        <p:strVal val="visible"/>
                                      </p:to>
                                    </p:set>
                                    <p:animEffect transition="in" filter="fade">
                                      <p:cBhvr>
                                        <p:cTn id="20" dur="500"/>
                                        <p:tgtEl>
                                          <p:spTgt spid="10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2">
                                            <p:txEl>
                                              <p:pRg st="2" end="2"/>
                                            </p:txEl>
                                          </p:spTgt>
                                        </p:tgtEl>
                                        <p:attrNameLst>
                                          <p:attrName>style.visibility</p:attrName>
                                        </p:attrNameLst>
                                      </p:cBhvr>
                                      <p:to>
                                        <p:strVal val="visible"/>
                                      </p:to>
                                    </p:set>
                                    <p:animEffect transition="in" filter="fade">
                                      <p:cBhvr>
                                        <p:cTn id="25" dur="500"/>
                                        <p:tgtEl>
                                          <p:spTgt spid="102">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2">
                                            <p:txEl>
                                              <p:pRg st="3" end="3"/>
                                            </p:txEl>
                                          </p:spTgt>
                                        </p:tgtEl>
                                        <p:attrNameLst>
                                          <p:attrName>style.visibility</p:attrName>
                                        </p:attrNameLst>
                                      </p:cBhvr>
                                      <p:to>
                                        <p:strVal val="visible"/>
                                      </p:to>
                                    </p:set>
                                    <p:animEffect transition="in" filter="fade">
                                      <p:cBhvr>
                                        <p:cTn id="30" dur="500"/>
                                        <p:tgtEl>
                                          <p:spTgt spid="102">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2">
                                            <p:txEl>
                                              <p:pRg st="4" end="4"/>
                                            </p:txEl>
                                          </p:spTgt>
                                        </p:tgtEl>
                                        <p:attrNameLst>
                                          <p:attrName>style.visibility</p:attrName>
                                        </p:attrNameLst>
                                      </p:cBhvr>
                                      <p:to>
                                        <p:strVal val="visible"/>
                                      </p:to>
                                    </p:set>
                                    <p:animEffect transition="in" filter="fade">
                                      <p:cBhvr>
                                        <p:cTn id="35" dur="500"/>
                                        <p:tgtEl>
                                          <p:spTgt spid="102">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2">
                                            <p:txEl>
                                              <p:pRg st="5" end="5"/>
                                            </p:txEl>
                                          </p:spTgt>
                                        </p:tgtEl>
                                        <p:attrNameLst>
                                          <p:attrName>style.visibility</p:attrName>
                                        </p:attrNameLst>
                                      </p:cBhvr>
                                      <p:to>
                                        <p:strVal val="visible"/>
                                      </p:to>
                                    </p:set>
                                    <p:animEffect transition="in" filter="fade">
                                      <p:cBhvr>
                                        <p:cTn id="40" dur="500"/>
                                        <p:tgtEl>
                                          <p:spTgt spid="102">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02">
                                            <p:txEl>
                                              <p:pRg st="7" end="7"/>
                                            </p:txEl>
                                          </p:spTgt>
                                        </p:tgtEl>
                                        <p:attrNameLst>
                                          <p:attrName>style.visibility</p:attrName>
                                        </p:attrNameLst>
                                      </p:cBhvr>
                                      <p:to>
                                        <p:strVal val="visible"/>
                                      </p:to>
                                    </p:set>
                                    <p:animEffect transition="in" filter="fade">
                                      <p:cBhvr>
                                        <p:cTn id="45" dur="500"/>
                                        <p:tgtEl>
                                          <p:spTgt spid="102">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2">
                                            <p:txEl>
                                              <p:pRg st="8" end="8"/>
                                            </p:txEl>
                                          </p:spTgt>
                                        </p:tgtEl>
                                        <p:attrNameLst>
                                          <p:attrName>style.visibility</p:attrName>
                                        </p:attrNameLst>
                                      </p:cBhvr>
                                      <p:to>
                                        <p:strVal val="visible"/>
                                      </p:to>
                                    </p:set>
                                    <p:animEffect transition="in" filter="fade">
                                      <p:cBhvr>
                                        <p:cTn id="50" dur="500"/>
                                        <p:tgtEl>
                                          <p:spTgt spid="10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p>
            <a:pPr marL="190500" lvl="0" indent="0" algn="l" rtl="0">
              <a:lnSpc>
                <a:spcPct val="120000"/>
              </a:lnSpc>
              <a:spcBef>
                <a:spcPts val="0"/>
              </a:spcBef>
              <a:spcAft>
                <a:spcPts val="500"/>
              </a:spcAft>
              <a:buNone/>
            </a:pPr>
            <a:r>
              <a:rPr lang="en-US" sz="2350" dirty="0">
                <a:solidFill>
                  <a:srgbClr val="232C39"/>
                </a:solidFill>
                <a:highlight>
                  <a:srgbClr val="FFFFFF"/>
                </a:highlight>
                <a:latin typeface="Trebuchet MS"/>
                <a:ea typeface="Trebuchet MS"/>
                <a:cs typeface="Trebuchet MS"/>
                <a:sym typeface="Trebuchet MS"/>
              </a:rPr>
              <a:t>Stanford's </a:t>
            </a:r>
            <a:r>
              <a:rPr lang="en-US" sz="2350" dirty="0">
                <a:solidFill>
                  <a:schemeClr val="tx1"/>
                </a:solidFill>
                <a:highlight>
                  <a:srgbClr val="FFFFFF"/>
                </a:highlight>
                <a:latin typeface="Trebuchet MS"/>
                <a:ea typeface="Trebuchet MS"/>
                <a:cs typeface="Trebuchet MS"/>
                <a:sym typeface="Trebuchet MS"/>
              </a:rPr>
              <a:t>CoreNLP</a:t>
            </a:r>
          </a:p>
        </p:txBody>
      </p:sp>
      <p:sp>
        <p:nvSpPr>
          <p:cNvPr id="102" name="Google Shape;102;p18"/>
          <p:cNvSpPr txBox="1">
            <a:spLocks noGrp="1"/>
          </p:cNvSpPr>
          <p:nvPr>
            <p:ph type="body" idx="1"/>
          </p:nvPr>
        </p:nvSpPr>
        <p:spPr>
          <a:xfrm>
            <a:off x="2400250" y="1211350"/>
            <a:ext cx="6321600" cy="3393600"/>
          </a:xfrm>
          <a:prstGeom prst="rect">
            <a:avLst/>
          </a:prstGeom>
        </p:spPr>
        <p:txBody>
          <a:bodyPr spcFirstLastPara="1" wrap="square" lIns="91425" tIns="91425" rIns="91425" bIns="91425" anchor="t" anchorCtr="0">
            <a:noAutofit/>
          </a:bodyPr>
          <a:lstStyle/>
          <a:p>
            <a:pPr marL="285750" indent="-285750"/>
            <a:r>
              <a:rPr lang="en-US" sz="1600" dirty="0">
                <a:solidFill>
                  <a:srgbClr val="666666"/>
                </a:solidFill>
                <a:latin typeface="Roboto" panose="020B0604020202020204" charset="0"/>
                <a:ea typeface="Roboto" panose="020B0604020202020204" charset="0"/>
                <a:cs typeface="Trebuchet MS"/>
                <a:sym typeface="Trebuchet MS"/>
              </a:rPr>
              <a:t>Token and sentence boundaries</a:t>
            </a:r>
          </a:p>
          <a:p>
            <a:pPr marL="285750" indent="-285750"/>
            <a:r>
              <a:rPr lang="en-US" sz="1600" dirty="0">
                <a:solidFill>
                  <a:srgbClr val="666666"/>
                </a:solidFill>
                <a:latin typeface="Roboto" panose="020B0604020202020204" charset="0"/>
                <a:ea typeface="Roboto" panose="020B0604020202020204" charset="0"/>
                <a:cs typeface="Trebuchet MS"/>
                <a:sym typeface="Trebuchet MS"/>
              </a:rPr>
              <a:t>Parts of speech</a:t>
            </a:r>
          </a:p>
          <a:p>
            <a:pPr marL="285750" indent="-285750"/>
            <a:r>
              <a:rPr lang="en-US" sz="1600" dirty="0">
                <a:solidFill>
                  <a:srgbClr val="666666"/>
                </a:solidFill>
                <a:latin typeface="Roboto" panose="020B0604020202020204" charset="0"/>
                <a:ea typeface="Roboto" panose="020B0604020202020204" charset="0"/>
                <a:cs typeface="Trebuchet MS"/>
                <a:sym typeface="Trebuchet MS"/>
              </a:rPr>
              <a:t>Named entities</a:t>
            </a:r>
          </a:p>
          <a:p>
            <a:pPr marL="285750" indent="-285750"/>
            <a:r>
              <a:rPr lang="en-US" sz="1600" dirty="0">
                <a:solidFill>
                  <a:srgbClr val="666666"/>
                </a:solidFill>
                <a:latin typeface="Roboto" panose="020B0604020202020204" charset="0"/>
                <a:ea typeface="Roboto" panose="020B0604020202020204" charset="0"/>
                <a:cs typeface="Trebuchet MS"/>
                <a:sym typeface="Trebuchet MS"/>
              </a:rPr>
              <a:t>Numeric and time values</a:t>
            </a:r>
          </a:p>
          <a:p>
            <a:pPr marL="285750" indent="-285750"/>
            <a:r>
              <a:rPr lang="en-US" sz="1600" dirty="0">
                <a:solidFill>
                  <a:srgbClr val="666666"/>
                </a:solidFill>
                <a:latin typeface="Roboto" panose="020B0604020202020204" charset="0"/>
                <a:ea typeface="Roboto" panose="020B0604020202020204" charset="0"/>
                <a:cs typeface="Trebuchet MS"/>
                <a:sym typeface="Trebuchet MS"/>
              </a:rPr>
              <a:t>Dependency and constituency parses</a:t>
            </a:r>
          </a:p>
          <a:p>
            <a:pPr marL="285750" indent="-285750"/>
            <a:r>
              <a:rPr lang="en-US" sz="1600" dirty="0">
                <a:solidFill>
                  <a:srgbClr val="666666"/>
                </a:solidFill>
                <a:latin typeface="Roboto" panose="020B0604020202020204" charset="0"/>
                <a:ea typeface="Roboto" panose="020B0604020202020204" charset="0"/>
                <a:cs typeface="Trebuchet MS"/>
                <a:sym typeface="Trebuchet MS"/>
              </a:rPr>
              <a:t>Coreference, sentiment, quote attributions, and relations.</a:t>
            </a:r>
          </a:p>
          <a:p>
            <a:pPr marL="0" indent="0">
              <a:buNone/>
            </a:pPr>
            <a:endParaRPr lang="en-US" sz="1600" dirty="0">
              <a:solidFill>
                <a:srgbClr val="666666"/>
              </a:solidFill>
              <a:latin typeface="Roboto" panose="020B0604020202020204" charset="0"/>
              <a:ea typeface="Roboto" panose="020B0604020202020204" charset="0"/>
              <a:cs typeface="Trebuchet MS"/>
              <a:sym typeface="Trebuchet MS"/>
            </a:endParaRPr>
          </a:p>
          <a:p>
            <a:pPr marL="285750" indent="-285750"/>
            <a:r>
              <a:rPr lang="en-US" sz="1600" dirty="0">
                <a:solidFill>
                  <a:srgbClr val="666666"/>
                </a:solidFill>
                <a:latin typeface="Roboto" panose="020B0604020202020204" charset="0"/>
                <a:ea typeface="Roboto" panose="020B0604020202020204" charset="0"/>
                <a:cs typeface="Trebuchet MS"/>
                <a:sym typeface="Trebuchet MS"/>
              </a:rPr>
              <a:t>Supports 6 languages: Arabic, Chinese, English, French, German, and Spanish</a:t>
            </a:r>
          </a:p>
          <a:p>
            <a:pPr marL="285750" indent="-285750"/>
            <a:r>
              <a:rPr lang="en-US" sz="1600" dirty="0">
                <a:solidFill>
                  <a:srgbClr val="666666"/>
                </a:solidFill>
                <a:latin typeface="Roboto" panose="020B0604020202020204" charset="0"/>
                <a:ea typeface="Roboto" panose="020B0604020202020204" charset="0"/>
                <a:cs typeface="Trebuchet MS"/>
                <a:sym typeface="Trebuchet MS"/>
              </a:rPr>
              <a:t>Java Library</a:t>
            </a:r>
          </a:p>
          <a:p>
            <a:pPr marL="285750" indent="-285750"/>
            <a:r>
              <a:rPr lang="en-US" sz="1600" dirty="0">
                <a:solidFill>
                  <a:srgbClr val="666666"/>
                </a:solidFill>
                <a:latin typeface="Roboto" panose="020B0604020202020204" charset="0"/>
                <a:ea typeface="Roboto" panose="020B0604020202020204" charset="0"/>
                <a:cs typeface="Trebuchet MS"/>
                <a:sym typeface="Trebuchet MS"/>
              </a:rPr>
              <a:t>Price - Free</a:t>
            </a:r>
          </a:p>
        </p:txBody>
      </p:sp>
      <p:pic>
        <p:nvPicPr>
          <p:cNvPr id="3" name="Picture 2" descr="A picture containing text&#10;&#10;Description automatically generated">
            <a:extLst>
              <a:ext uri="{FF2B5EF4-FFF2-40B4-BE49-F238E27FC236}">
                <a16:creationId xmlns:a16="http://schemas.microsoft.com/office/drawing/2014/main" id="{0DC2E8CD-3A04-47CF-ACD0-8122DFB2F809}"/>
              </a:ext>
            </a:extLst>
          </p:cNvPr>
          <p:cNvPicPr>
            <a:picLocks noChangeAspect="1"/>
          </p:cNvPicPr>
          <p:nvPr/>
        </p:nvPicPr>
        <p:blipFill>
          <a:blip r:embed="rId3"/>
          <a:stretch>
            <a:fillRect/>
          </a:stretch>
        </p:blipFill>
        <p:spPr>
          <a:xfrm>
            <a:off x="123775" y="1771650"/>
            <a:ext cx="2400300" cy="800100"/>
          </a:xfrm>
          <a:prstGeom prst="rect">
            <a:avLst/>
          </a:prstGeom>
        </p:spPr>
      </p:pic>
    </p:spTree>
    <p:extLst>
      <p:ext uri="{BB962C8B-B14F-4D97-AF65-F5344CB8AC3E}">
        <p14:creationId xmlns:p14="http://schemas.microsoft.com/office/powerpoint/2010/main" val="2301908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500"/>
                                        <p:tgtEl>
                                          <p:spTgt spid="10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2">
                                            <p:txEl>
                                              <p:pRg st="0" end="0"/>
                                            </p:txEl>
                                          </p:spTgt>
                                        </p:tgtEl>
                                        <p:attrNameLst>
                                          <p:attrName>style.visibility</p:attrName>
                                        </p:attrNameLst>
                                      </p:cBhvr>
                                      <p:to>
                                        <p:strVal val="visible"/>
                                      </p:to>
                                    </p:set>
                                    <p:animEffect transition="in" filter="fade">
                                      <p:cBhvr>
                                        <p:cTn id="15" dur="500"/>
                                        <p:tgtEl>
                                          <p:spTgt spid="10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2">
                                            <p:txEl>
                                              <p:pRg st="1" end="1"/>
                                            </p:txEl>
                                          </p:spTgt>
                                        </p:tgtEl>
                                        <p:attrNameLst>
                                          <p:attrName>style.visibility</p:attrName>
                                        </p:attrNameLst>
                                      </p:cBhvr>
                                      <p:to>
                                        <p:strVal val="visible"/>
                                      </p:to>
                                    </p:set>
                                    <p:animEffect transition="in" filter="fade">
                                      <p:cBhvr>
                                        <p:cTn id="20" dur="500"/>
                                        <p:tgtEl>
                                          <p:spTgt spid="10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2">
                                            <p:txEl>
                                              <p:pRg st="2" end="2"/>
                                            </p:txEl>
                                          </p:spTgt>
                                        </p:tgtEl>
                                        <p:attrNameLst>
                                          <p:attrName>style.visibility</p:attrName>
                                        </p:attrNameLst>
                                      </p:cBhvr>
                                      <p:to>
                                        <p:strVal val="visible"/>
                                      </p:to>
                                    </p:set>
                                    <p:animEffect transition="in" filter="fade">
                                      <p:cBhvr>
                                        <p:cTn id="25" dur="500"/>
                                        <p:tgtEl>
                                          <p:spTgt spid="102">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2">
                                            <p:txEl>
                                              <p:pRg st="3" end="3"/>
                                            </p:txEl>
                                          </p:spTgt>
                                        </p:tgtEl>
                                        <p:attrNameLst>
                                          <p:attrName>style.visibility</p:attrName>
                                        </p:attrNameLst>
                                      </p:cBhvr>
                                      <p:to>
                                        <p:strVal val="visible"/>
                                      </p:to>
                                    </p:set>
                                    <p:animEffect transition="in" filter="fade">
                                      <p:cBhvr>
                                        <p:cTn id="30" dur="500"/>
                                        <p:tgtEl>
                                          <p:spTgt spid="102">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2">
                                            <p:txEl>
                                              <p:pRg st="4" end="4"/>
                                            </p:txEl>
                                          </p:spTgt>
                                        </p:tgtEl>
                                        <p:attrNameLst>
                                          <p:attrName>style.visibility</p:attrName>
                                        </p:attrNameLst>
                                      </p:cBhvr>
                                      <p:to>
                                        <p:strVal val="visible"/>
                                      </p:to>
                                    </p:set>
                                    <p:animEffect transition="in" filter="fade">
                                      <p:cBhvr>
                                        <p:cTn id="35" dur="500"/>
                                        <p:tgtEl>
                                          <p:spTgt spid="102">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2">
                                            <p:txEl>
                                              <p:pRg st="5" end="5"/>
                                            </p:txEl>
                                          </p:spTgt>
                                        </p:tgtEl>
                                        <p:attrNameLst>
                                          <p:attrName>style.visibility</p:attrName>
                                        </p:attrNameLst>
                                      </p:cBhvr>
                                      <p:to>
                                        <p:strVal val="visible"/>
                                      </p:to>
                                    </p:set>
                                    <p:animEffect transition="in" filter="fade">
                                      <p:cBhvr>
                                        <p:cTn id="40" dur="500"/>
                                        <p:tgtEl>
                                          <p:spTgt spid="102">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02">
                                            <p:txEl>
                                              <p:pRg st="7" end="7"/>
                                            </p:txEl>
                                          </p:spTgt>
                                        </p:tgtEl>
                                        <p:attrNameLst>
                                          <p:attrName>style.visibility</p:attrName>
                                        </p:attrNameLst>
                                      </p:cBhvr>
                                      <p:to>
                                        <p:strVal val="visible"/>
                                      </p:to>
                                    </p:set>
                                    <p:animEffect transition="in" filter="fade">
                                      <p:cBhvr>
                                        <p:cTn id="45" dur="500"/>
                                        <p:tgtEl>
                                          <p:spTgt spid="102">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2">
                                            <p:txEl>
                                              <p:pRg st="8" end="8"/>
                                            </p:txEl>
                                          </p:spTgt>
                                        </p:tgtEl>
                                        <p:attrNameLst>
                                          <p:attrName>style.visibility</p:attrName>
                                        </p:attrNameLst>
                                      </p:cBhvr>
                                      <p:to>
                                        <p:strVal val="visible"/>
                                      </p:to>
                                    </p:set>
                                    <p:animEffect transition="in" filter="fade">
                                      <p:cBhvr>
                                        <p:cTn id="50" dur="500"/>
                                        <p:tgtEl>
                                          <p:spTgt spid="102">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02">
                                            <p:txEl>
                                              <p:pRg st="9" end="9"/>
                                            </p:txEl>
                                          </p:spTgt>
                                        </p:tgtEl>
                                        <p:attrNameLst>
                                          <p:attrName>style.visibility</p:attrName>
                                        </p:attrNameLst>
                                      </p:cBhvr>
                                      <p:to>
                                        <p:strVal val="visible"/>
                                      </p:to>
                                    </p:set>
                                    <p:animEffect transition="in" filter="fade">
                                      <p:cBhvr>
                                        <p:cTn id="55" dur="500"/>
                                        <p:tgtEl>
                                          <p:spTgt spid="10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2400250" y="575950"/>
            <a:ext cx="6321600" cy="611720"/>
          </a:xfrm>
          <a:prstGeom prst="rect">
            <a:avLst/>
          </a:prstGeom>
        </p:spPr>
        <p:txBody>
          <a:bodyPr spcFirstLastPara="1" wrap="square" lIns="91425" tIns="91425" rIns="91425" bIns="91425" anchor="t" anchorCtr="0">
            <a:noAutofit/>
          </a:bodyPr>
          <a:lstStyle/>
          <a:p>
            <a:pPr marL="190500" lvl="0" indent="0" algn="l" rtl="0">
              <a:lnSpc>
                <a:spcPct val="120000"/>
              </a:lnSpc>
              <a:spcBef>
                <a:spcPts val="0"/>
              </a:spcBef>
              <a:spcAft>
                <a:spcPts val="500"/>
              </a:spcAft>
              <a:buNone/>
            </a:pPr>
            <a:r>
              <a:rPr lang="en-US" sz="2350" dirty="0">
                <a:solidFill>
                  <a:srgbClr val="232C39"/>
                </a:solidFill>
                <a:highlight>
                  <a:srgbClr val="FFFFFF"/>
                </a:highlight>
                <a:latin typeface="Trebuchet MS"/>
                <a:ea typeface="Trebuchet MS"/>
                <a:cs typeface="Trebuchet MS"/>
                <a:sym typeface="Trebuchet MS"/>
              </a:rPr>
              <a:t>GATE &amp; </a:t>
            </a:r>
            <a:r>
              <a:rPr lang="en-US" sz="2350" dirty="0">
                <a:solidFill>
                  <a:schemeClr val="tx1"/>
                </a:solidFill>
                <a:highlight>
                  <a:srgbClr val="FFFFFF"/>
                </a:highlight>
                <a:latin typeface="Trebuchet MS"/>
                <a:ea typeface="Trebuchet MS"/>
                <a:cs typeface="Trebuchet MS"/>
                <a:sym typeface="Trebuchet MS"/>
              </a:rPr>
              <a:t>Apache UIMA</a:t>
            </a:r>
          </a:p>
        </p:txBody>
      </p:sp>
      <p:sp>
        <p:nvSpPr>
          <p:cNvPr id="102" name="Google Shape;102;p18"/>
          <p:cNvSpPr txBox="1">
            <a:spLocks noGrp="1"/>
          </p:cNvSpPr>
          <p:nvPr>
            <p:ph type="body" idx="1"/>
          </p:nvPr>
        </p:nvSpPr>
        <p:spPr>
          <a:xfrm>
            <a:off x="2400250" y="1187670"/>
            <a:ext cx="6321600" cy="3301668"/>
          </a:xfrm>
          <a:prstGeom prst="rect">
            <a:avLst/>
          </a:prstGeom>
        </p:spPr>
        <p:txBody>
          <a:bodyPr spcFirstLastPara="1" wrap="square" lIns="91425" tIns="91425" rIns="91425" bIns="91425" anchor="t" anchorCtr="0">
            <a:noAutofit/>
          </a:bodyPr>
          <a:lstStyle/>
          <a:p>
            <a:pPr marL="285750" indent="-2857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Standardizes and abstracts much of the repetitive work that goes into building a complex NLP application.</a:t>
            </a:r>
            <a:br>
              <a:rPr lang="en-US" sz="1600" dirty="0">
                <a:solidFill>
                  <a:srgbClr val="666666"/>
                </a:solidFill>
                <a:latin typeface="Roboto" panose="020B0604020202020204" charset="0"/>
                <a:ea typeface="Roboto" panose="020B0604020202020204" charset="0"/>
                <a:cs typeface="Trebuchet MS"/>
                <a:sym typeface="Trebuchet MS"/>
              </a:rPr>
            </a:br>
            <a:endParaRPr lang="en-US" sz="1600" dirty="0">
              <a:solidFill>
                <a:srgbClr val="666666"/>
              </a:solidFill>
              <a:latin typeface="Roboto" panose="020B0604020202020204" charset="0"/>
              <a:ea typeface="Roboto" panose="020B0604020202020204" charset="0"/>
              <a:cs typeface="Trebuchet MS"/>
              <a:sym typeface="Trebuchet MS"/>
            </a:endParaRPr>
          </a:p>
          <a:p>
            <a:pPr marL="285750" indent="-2857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Very flexible scale out capability based on JMS (Java Messaging Services) and ActiveMQ</a:t>
            </a:r>
            <a:br>
              <a:rPr lang="en-US" sz="1600" dirty="0">
                <a:solidFill>
                  <a:srgbClr val="666666"/>
                </a:solidFill>
                <a:latin typeface="Roboto" panose="020B0604020202020204" charset="0"/>
                <a:ea typeface="Roboto" panose="020B0604020202020204" charset="0"/>
                <a:cs typeface="Trebuchet MS"/>
                <a:sym typeface="Trebuchet MS"/>
              </a:rPr>
            </a:br>
            <a:endParaRPr lang="en-US" sz="1600" dirty="0">
              <a:solidFill>
                <a:srgbClr val="666666"/>
              </a:solidFill>
              <a:latin typeface="Roboto" panose="020B0604020202020204" charset="0"/>
              <a:ea typeface="Roboto" panose="020B0604020202020204" charset="0"/>
              <a:cs typeface="Trebuchet MS"/>
              <a:sym typeface="Trebuchet MS"/>
            </a:endParaRPr>
          </a:p>
          <a:p>
            <a:pPr marL="285750" indent="-2857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Provides cluster management services to automate the scale-out of UIMA pipelines over computing clusters</a:t>
            </a:r>
            <a:br>
              <a:rPr lang="en-US" sz="1600" dirty="0">
                <a:solidFill>
                  <a:srgbClr val="666666"/>
                </a:solidFill>
                <a:latin typeface="Roboto" panose="020B0604020202020204" charset="0"/>
                <a:ea typeface="Roboto" panose="020B0604020202020204" charset="0"/>
                <a:cs typeface="Trebuchet MS"/>
                <a:sym typeface="Trebuchet MS"/>
              </a:rPr>
            </a:br>
            <a:endParaRPr lang="en-US" sz="1600" dirty="0">
              <a:solidFill>
                <a:srgbClr val="666666"/>
              </a:solidFill>
              <a:latin typeface="Roboto" panose="020B0604020202020204" charset="0"/>
              <a:ea typeface="Roboto" panose="020B0604020202020204" charset="0"/>
              <a:cs typeface="Trebuchet MS"/>
              <a:sym typeface="Trebuchet MS"/>
            </a:endParaRPr>
          </a:p>
          <a:p>
            <a:pPr marL="285750" indent="-2857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Enables applications to be decomposed into components.</a:t>
            </a:r>
          </a:p>
          <a:p>
            <a:pPr marL="0" indent="0">
              <a:lnSpc>
                <a:spcPct val="100000"/>
              </a:lnSpc>
              <a:buNone/>
            </a:pPr>
            <a:endParaRPr lang="en-US" sz="1600" dirty="0">
              <a:solidFill>
                <a:srgbClr val="666666"/>
              </a:solidFill>
              <a:latin typeface="Roboto" panose="020B0604020202020204" charset="0"/>
              <a:ea typeface="Roboto" panose="020B0604020202020204" charset="0"/>
              <a:cs typeface="Trebuchet MS"/>
              <a:sym typeface="Trebuchet MS"/>
            </a:endParaRPr>
          </a:p>
          <a:p>
            <a:pPr marL="0" indent="0">
              <a:lnSpc>
                <a:spcPct val="100000"/>
              </a:lnSpc>
              <a:buNone/>
            </a:pPr>
            <a:r>
              <a:rPr lang="en-US" sz="1200" dirty="0">
                <a:solidFill>
                  <a:srgbClr val="666666"/>
                </a:solidFill>
                <a:latin typeface="Roboto" panose="020B0604020202020204" charset="0"/>
                <a:ea typeface="Roboto" panose="020B0604020202020204" charset="0"/>
                <a:cs typeface="Trebuchet MS"/>
                <a:sym typeface="Trebuchet MS"/>
              </a:rPr>
              <a:t>For example "language identification" =&gt; "language specific segmentation" </a:t>
            </a:r>
          </a:p>
          <a:p>
            <a:pPr marL="0" indent="0">
              <a:lnSpc>
                <a:spcPct val="100000"/>
              </a:lnSpc>
              <a:buNone/>
            </a:pPr>
            <a:r>
              <a:rPr lang="en-US" sz="1200" dirty="0">
                <a:solidFill>
                  <a:srgbClr val="666666"/>
                </a:solidFill>
                <a:latin typeface="Roboto" panose="020B0604020202020204" charset="0"/>
                <a:ea typeface="Roboto" panose="020B0604020202020204" charset="0"/>
                <a:cs typeface="Trebuchet MS"/>
                <a:sym typeface="Trebuchet MS"/>
              </a:rPr>
              <a:t>=&gt; "sentence boundary detection" =&gt; "entity detection (person/place names etc.)".</a:t>
            </a:r>
            <a:br>
              <a:rPr lang="en-US" sz="1600" dirty="0">
                <a:solidFill>
                  <a:srgbClr val="666666"/>
                </a:solidFill>
                <a:latin typeface="Roboto" panose="020B0604020202020204" charset="0"/>
                <a:ea typeface="Roboto" panose="020B0604020202020204" charset="0"/>
                <a:cs typeface="Trebuchet MS"/>
                <a:sym typeface="Trebuchet MS"/>
              </a:rPr>
            </a:br>
            <a:endParaRPr lang="en-US" sz="1600" dirty="0">
              <a:solidFill>
                <a:srgbClr val="666666"/>
              </a:solidFill>
              <a:latin typeface="Roboto" panose="020B0604020202020204" charset="0"/>
              <a:ea typeface="Roboto" panose="020B0604020202020204" charset="0"/>
              <a:cs typeface="Trebuchet MS"/>
              <a:sym typeface="Trebuchet MS"/>
            </a:endParaRPr>
          </a:p>
        </p:txBody>
      </p:sp>
      <p:pic>
        <p:nvPicPr>
          <p:cNvPr id="3" name="Picture 2" descr="Text&#10;&#10;Description automatically generated">
            <a:extLst>
              <a:ext uri="{FF2B5EF4-FFF2-40B4-BE49-F238E27FC236}">
                <a16:creationId xmlns:a16="http://schemas.microsoft.com/office/drawing/2014/main" id="{87BF841A-4709-4B31-B5BE-1B8CD7856A41}"/>
              </a:ext>
            </a:extLst>
          </p:cNvPr>
          <p:cNvPicPr>
            <a:picLocks noChangeAspect="1"/>
          </p:cNvPicPr>
          <p:nvPr/>
        </p:nvPicPr>
        <p:blipFill>
          <a:blip r:embed="rId3"/>
          <a:stretch>
            <a:fillRect/>
          </a:stretch>
        </p:blipFill>
        <p:spPr>
          <a:xfrm>
            <a:off x="0" y="1960029"/>
            <a:ext cx="2324539" cy="611721"/>
          </a:xfrm>
          <a:prstGeom prst="rect">
            <a:avLst/>
          </a:prstGeom>
        </p:spPr>
      </p:pic>
    </p:spTree>
    <p:extLst>
      <p:ext uri="{BB962C8B-B14F-4D97-AF65-F5344CB8AC3E}">
        <p14:creationId xmlns:p14="http://schemas.microsoft.com/office/powerpoint/2010/main" val="29410284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5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2">
                                            <p:txEl>
                                              <p:pRg st="0" end="0"/>
                                            </p:txEl>
                                          </p:spTgt>
                                        </p:tgtEl>
                                        <p:attrNameLst>
                                          <p:attrName>style.visibility</p:attrName>
                                        </p:attrNameLst>
                                      </p:cBhvr>
                                      <p:to>
                                        <p:strVal val="visible"/>
                                      </p:to>
                                    </p:set>
                                    <p:animEffect transition="in" filter="fade">
                                      <p:cBhvr>
                                        <p:cTn id="15" dur="500"/>
                                        <p:tgtEl>
                                          <p:spTgt spid="10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2">
                                            <p:txEl>
                                              <p:pRg st="1" end="1"/>
                                            </p:txEl>
                                          </p:spTgt>
                                        </p:tgtEl>
                                        <p:attrNameLst>
                                          <p:attrName>style.visibility</p:attrName>
                                        </p:attrNameLst>
                                      </p:cBhvr>
                                      <p:to>
                                        <p:strVal val="visible"/>
                                      </p:to>
                                    </p:set>
                                    <p:animEffect transition="in" filter="fade">
                                      <p:cBhvr>
                                        <p:cTn id="20" dur="500"/>
                                        <p:tgtEl>
                                          <p:spTgt spid="10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2">
                                            <p:txEl>
                                              <p:pRg st="2" end="2"/>
                                            </p:txEl>
                                          </p:spTgt>
                                        </p:tgtEl>
                                        <p:attrNameLst>
                                          <p:attrName>style.visibility</p:attrName>
                                        </p:attrNameLst>
                                      </p:cBhvr>
                                      <p:to>
                                        <p:strVal val="visible"/>
                                      </p:to>
                                    </p:set>
                                    <p:animEffect transition="in" filter="fade">
                                      <p:cBhvr>
                                        <p:cTn id="25" dur="500"/>
                                        <p:tgtEl>
                                          <p:spTgt spid="102">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2">
                                            <p:txEl>
                                              <p:pRg st="3" end="3"/>
                                            </p:txEl>
                                          </p:spTgt>
                                        </p:tgtEl>
                                        <p:attrNameLst>
                                          <p:attrName>style.visibility</p:attrName>
                                        </p:attrNameLst>
                                      </p:cBhvr>
                                      <p:to>
                                        <p:strVal val="visible"/>
                                      </p:to>
                                    </p:set>
                                    <p:animEffect transition="in" filter="fade">
                                      <p:cBhvr>
                                        <p:cTn id="30" dur="500"/>
                                        <p:tgtEl>
                                          <p:spTgt spid="102">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2">
                                            <p:txEl>
                                              <p:pRg st="5" end="5"/>
                                            </p:txEl>
                                          </p:spTgt>
                                        </p:tgtEl>
                                        <p:attrNameLst>
                                          <p:attrName>style.visibility</p:attrName>
                                        </p:attrNameLst>
                                      </p:cBhvr>
                                      <p:to>
                                        <p:strVal val="visible"/>
                                      </p:to>
                                    </p:set>
                                    <p:animEffect transition="in" filter="fade">
                                      <p:cBhvr>
                                        <p:cTn id="35" dur="500"/>
                                        <p:tgtEl>
                                          <p:spTgt spid="102">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2">
                                            <p:txEl>
                                              <p:pRg st="6" end="6"/>
                                            </p:txEl>
                                          </p:spTgt>
                                        </p:tgtEl>
                                        <p:attrNameLst>
                                          <p:attrName>style.visibility</p:attrName>
                                        </p:attrNameLst>
                                      </p:cBhvr>
                                      <p:to>
                                        <p:strVal val="visible"/>
                                      </p:to>
                                    </p:set>
                                    <p:animEffect transition="in" filter="fade">
                                      <p:cBhvr>
                                        <p:cTn id="40" dur="500"/>
                                        <p:tgtEl>
                                          <p:spTgt spid="10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2400250" y="449825"/>
            <a:ext cx="6321600" cy="727333"/>
          </a:xfrm>
          <a:prstGeom prst="rect">
            <a:avLst/>
          </a:prstGeom>
        </p:spPr>
        <p:txBody>
          <a:bodyPr spcFirstLastPara="1" wrap="square" lIns="91425" tIns="91425" rIns="91425" bIns="91425" anchor="t" anchorCtr="0">
            <a:noAutofit/>
          </a:bodyPr>
          <a:lstStyle/>
          <a:p>
            <a:pPr marL="190500" lvl="0" indent="0" algn="l" rtl="0">
              <a:lnSpc>
                <a:spcPct val="120000"/>
              </a:lnSpc>
              <a:spcBef>
                <a:spcPts val="0"/>
              </a:spcBef>
              <a:spcAft>
                <a:spcPts val="500"/>
              </a:spcAft>
              <a:buNone/>
            </a:pPr>
            <a:r>
              <a:rPr lang="en-US" sz="2350" dirty="0">
                <a:solidFill>
                  <a:srgbClr val="232C39"/>
                </a:solidFill>
                <a:highlight>
                  <a:srgbClr val="FFFFFF"/>
                </a:highlight>
                <a:latin typeface="Trebuchet MS"/>
                <a:ea typeface="Trebuchet MS"/>
                <a:cs typeface="Trebuchet MS"/>
                <a:sym typeface="Trebuchet MS"/>
              </a:rPr>
              <a:t>GATE &amp; </a:t>
            </a:r>
            <a:r>
              <a:rPr lang="en-US" sz="2350" dirty="0">
                <a:solidFill>
                  <a:schemeClr val="tx1"/>
                </a:solidFill>
                <a:highlight>
                  <a:srgbClr val="FFFFFF"/>
                </a:highlight>
                <a:latin typeface="Trebuchet MS"/>
                <a:ea typeface="Trebuchet MS"/>
                <a:cs typeface="Trebuchet MS"/>
                <a:sym typeface="Trebuchet MS"/>
              </a:rPr>
              <a:t>Apache UIMA</a:t>
            </a:r>
            <a:endParaRPr lang="en-US" sz="800" b="0" i="1" dirty="0">
              <a:solidFill>
                <a:schemeClr val="tx2"/>
              </a:solidFill>
              <a:highlight>
                <a:srgbClr val="FFFFFF"/>
              </a:highlight>
              <a:latin typeface="Trebuchet MS"/>
              <a:ea typeface="Trebuchet MS"/>
              <a:cs typeface="Trebuchet MS"/>
              <a:sym typeface="Trebuchet MS"/>
            </a:endParaRPr>
          </a:p>
        </p:txBody>
      </p:sp>
      <p:sp>
        <p:nvSpPr>
          <p:cNvPr id="102" name="Google Shape;102;p18"/>
          <p:cNvSpPr txBox="1">
            <a:spLocks noGrp="1"/>
          </p:cNvSpPr>
          <p:nvPr>
            <p:ph type="body" idx="1"/>
          </p:nvPr>
        </p:nvSpPr>
        <p:spPr>
          <a:xfrm>
            <a:off x="2400250" y="996183"/>
            <a:ext cx="6321600" cy="3301668"/>
          </a:xfrm>
          <a:prstGeom prst="rect">
            <a:avLst/>
          </a:prstGeom>
        </p:spPr>
        <p:txBody>
          <a:bodyPr spcFirstLastPara="1" wrap="square" lIns="91425" tIns="91425" rIns="91425" bIns="91425" anchor="t" anchorCtr="0">
            <a:noAutofit/>
          </a:bodyPr>
          <a:lstStyle/>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Each component implements interfaces defined by the framework and provides self-describing metadata via XML descriptor files.</a:t>
            </a:r>
            <a:br>
              <a:rPr lang="en-US" sz="1600" dirty="0">
                <a:solidFill>
                  <a:srgbClr val="666666"/>
                </a:solidFill>
                <a:latin typeface="Roboto" panose="020B0604020202020204" charset="0"/>
                <a:ea typeface="Roboto" panose="020B0604020202020204" charset="0"/>
                <a:cs typeface="Trebuchet MS"/>
                <a:sym typeface="Trebuchet MS"/>
              </a:rPr>
            </a:br>
            <a:endParaRPr lang="en-US" sz="1600" dirty="0">
              <a:solidFill>
                <a:srgbClr val="666666"/>
              </a:solidFill>
              <a:latin typeface="Roboto" panose="020B0604020202020204" charset="0"/>
              <a:ea typeface="Roboto" panose="020B0604020202020204" charset="0"/>
              <a:cs typeface="Trebuchet MS"/>
              <a:sym typeface="Trebuchet MS"/>
            </a:endParaRPr>
          </a:p>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The framework manages these components and the data flow between them.</a:t>
            </a:r>
            <a:br>
              <a:rPr lang="en-US" sz="1600" dirty="0">
                <a:solidFill>
                  <a:srgbClr val="666666"/>
                </a:solidFill>
                <a:latin typeface="Roboto" panose="020B0604020202020204" charset="0"/>
                <a:ea typeface="Roboto" panose="020B0604020202020204" charset="0"/>
                <a:cs typeface="Trebuchet MS"/>
                <a:sym typeface="Trebuchet MS"/>
              </a:rPr>
            </a:br>
            <a:endParaRPr lang="en-US" sz="1600" dirty="0">
              <a:solidFill>
                <a:srgbClr val="666666"/>
              </a:solidFill>
              <a:latin typeface="Roboto" panose="020B0604020202020204" charset="0"/>
              <a:ea typeface="Roboto" panose="020B0604020202020204" charset="0"/>
              <a:cs typeface="Trebuchet MS"/>
              <a:sym typeface="Trebuchet MS"/>
            </a:endParaRPr>
          </a:p>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Can wrap components as network services and can scale to very large volumes by replicating processing pipelines over a cluster of networked nodes.</a:t>
            </a:r>
            <a:br>
              <a:rPr lang="en-US" sz="1600" dirty="0">
                <a:solidFill>
                  <a:srgbClr val="666666"/>
                </a:solidFill>
                <a:latin typeface="Roboto" panose="020B0604020202020204" charset="0"/>
                <a:ea typeface="Roboto" panose="020B0604020202020204" charset="0"/>
                <a:cs typeface="Trebuchet MS"/>
                <a:sym typeface="Trebuchet MS"/>
              </a:rPr>
            </a:br>
            <a:endParaRPr lang="en-US" sz="1600" dirty="0">
              <a:solidFill>
                <a:srgbClr val="666666"/>
              </a:solidFill>
              <a:latin typeface="Roboto" panose="020B0604020202020204" charset="0"/>
              <a:ea typeface="Roboto" panose="020B0604020202020204" charset="0"/>
              <a:cs typeface="Trebuchet MS"/>
              <a:sym typeface="Trebuchet MS"/>
            </a:endParaRPr>
          </a:p>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Available for both C++ &amp; Java. Supporting annotators written in C/C++, also supports Perl, Python, and TCL annotators.</a:t>
            </a:r>
            <a:br>
              <a:rPr lang="en-US" sz="1600" dirty="0">
                <a:solidFill>
                  <a:srgbClr val="666666"/>
                </a:solidFill>
                <a:latin typeface="Roboto" panose="020B0604020202020204" charset="0"/>
                <a:ea typeface="Roboto" panose="020B0604020202020204" charset="0"/>
                <a:cs typeface="Trebuchet MS"/>
                <a:sym typeface="Trebuchet MS"/>
              </a:rPr>
            </a:br>
            <a:endParaRPr lang="en-US" sz="1600" dirty="0">
              <a:solidFill>
                <a:srgbClr val="666666"/>
              </a:solidFill>
              <a:latin typeface="Roboto" panose="020B0604020202020204" charset="0"/>
              <a:ea typeface="Roboto" panose="020B0604020202020204" charset="0"/>
              <a:cs typeface="Trebuchet MS"/>
              <a:sym typeface="Trebuchet MS"/>
            </a:endParaRPr>
          </a:p>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Price - Free</a:t>
            </a:r>
          </a:p>
        </p:txBody>
      </p:sp>
      <p:pic>
        <p:nvPicPr>
          <p:cNvPr id="4" name="Picture 3" descr="Text&#10;&#10;Description automatically generated">
            <a:extLst>
              <a:ext uri="{FF2B5EF4-FFF2-40B4-BE49-F238E27FC236}">
                <a16:creationId xmlns:a16="http://schemas.microsoft.com/office/drawing/2014/main" id="{7C442438-4679-45B6-9A74-5F5232D35CEA}"/>
              </a:ext>
            </a:extLst>
          </p:cNvPr>
          <p:cNvPicPr>
            <a:picLocks noChangeAspect="1"/>
          </p:cNvPicPr>
          <p:nvPr/>
        </p:nvPicPr>
        <p:blipFill>
          <a:blip r:embed="rId3"/>
          <a:stretch>
            <a:fillRect/>
          </a:stretch>
        </p:blipFill>
        <p:spPr>
          <a:xfrm>
            <a:off x="0" y="1960029"/>
            <a:ext cx="2324539" cy="611721"/>
          </a:xfrm>
          <a:prstGeom prst="rect">
            <a:avLst/>
          </a:prstGeom>
        </p:spPr>
      </p:pic>
    </p:spTree>
    <p:extLst>
      <p:ext uri="{BB962C8B-B14F-4D97-AF65-F5344CB8AC3E}">
        <p14:creationId xmlns:p14="http://schemas.microsoft.com/office/powerpoint/2010/main" val="1761391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
                                            <p:txEl>
                                              <p:pRg st="0" end="0"/>
                                            </p:txEl>
                                          </p:spTgt>
                                        </p:tgtEl>
                                        <p:attrNameLst>
                                          <p:attrName>style.visibility</p:attrName>
                                        </p:attrNameLst>
                                      </p:cBhvr>
                                      <p:to>
                                        <p:strVal val="visible"/>
                                      </p:to>
                                    </p:set>
                                    <p:animEffect transition="in" filter="fade">
                                      <p:cBhvr>
                                        <p:cTn id="7" dur="500"/>
                                        <p:tgtEl>
                                          <p:spTgt spid="1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
                                            <p:txEl>
                                              <p:pRg st="1" end="1"/>
                                            </p:txEl>
                                          </p:spTgt>
                                        </p:tgtEl>
                                        <p:attrNameLst>
                                          <p:attrName>style.visibility</p:attrName>
                                        </p:attrNameLst>
                                      </p:cBhvr>
                                      <p:to>
                                        <p:strVal val="visible"/>
                                      </p:to>
                                    </p:set>
                                    <p:animEffect transition="in" filter="fade">
                                      <p:cBhvr>
                                        <p:cTn id="12" dur="500"/>
                                        <p:tgtEl>
                                          <p:spTgt spid="10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
                                            <p:txEl>
                                              <p:pRg st="2" end="2"/>
                                            </p:txEl>
                                          </p:spTgt>
                                        </p:tgtEl>
                                        <p:attrNameLst>
                                          <p:attrName>style.visibility</p:attrName>
                                        </p:attrNameLst>
                                      </p:cBhvr>
                                      <p:to>
                                        <p:strVal val="visible"/>
                                      </p:to>
                                    </p:set>
                                    <p:animEffect transition="in" filter="fade">
                                      <p:cBhvr>
                                        <p:cTn id="17" dur="500"/>
                                        <p:tgtEl>
                                          <p:spTgt spid="10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
                                            <p:txEl>
                                              <p:pRg st="3" end="3"/>
                                            </p:txEl>
                                          </p:spTgt>
                                        </p:tgtEl>
                                        <p:attrNameLst>
                                          <p:attrName>style.visibility</p:attrName>
                                        </p:attrNameLst>
                                      </p:cBhvr>
                                      <p:to>
                                        <p:strVal val="visible"/>
                                      </p:to>
                                    </p:set>
                                    <p:animEffect transition="in" filter="fade">
                                      <p:cBhvr>
                                        <p:cTn id="22" dur="500"/>
                                        <p:tgtEl>
                                          <p:spTgt spid="10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
                                            <p:txEl>
                                              <p:pRg st="4" end="4"/>
                                            </p:txEl>
                                          </p:spTgt>
                                        </p:tgtEl>
                                        <p:attrNameLst>
                                          <p:attrName>style.visibility</p:attrName>
                                        </p:attrNameLst>
                                      </p:cBhvr>
                                      <p:to>
                                        <p:strVal val="visible"/>
                                      </p:to>
                                    </p:set>
                                    <p:animEffect transition="in" filter="fade">
                                      <p:cBhvr>
                                        <p:cTn id="27" dur="500"/>
                                        <p:tgtEl>
                                          <p:spTgt spid="10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2400250" y="449825"/>
            <a:ext cx="6321600" cy="727333"/>
          </a:xfrm>
          <a:prstGeom prst="rect">
            <a:avLst/>
          </a:prstGeom>
        </p:spPr>
        <p:txBody>
          <a:bodyPr spcFirstLastPara="1" wrap="square" lIns="91425" tIns="91425" rIns="91425" bIns="91425" anchor="t" anchorCtr="0">
            <a:noAutofit/>
          </a:bodyPr>
          <a:lstStyle/>
          <a:p>
            <a:pPr marL="190500" lvl="0" indent="0" algn="l" rtl="0">
              <a:lnSpc>
                <a:spcPct val="120000"/>
              </a:lnSpc>
              <a:spcBef>
                <a:spcPts val="0"/>
              </a:spcBef>
              <a:spcAft>
                <a:spcPts val="500"/>
              </a:spcAft>
              <a:buNone/>
            </a:pPr>
            <a:r>
              <a:rPr lang="en-US" sz="2350" dirty="0">
                <a:solidFill>
                  <a:srgbClr val="232C39"/>
                </a:solidFill>
                <a:highlight>
                  <a:srgbClr val="FFFFFF"/>
                </a:highlight>
                <a:latin typeface="Trebuchet MS"/>
                <a:ea typeface="Trebuchet MS"/>
                <a:cs typeface="Trebuchet MS"/>
                <a:sym typeface="Trebuchet MS"/>
              </a:rPr>
              <a:t>Spa</a:t>
            </a:r>
            <a:r>
              <a:rPr lang="en-US" sz="2350" dirty="0">
                <a:solidFill>
                  <a:schemeClr val="tx1"/>
                </a:solidFill>
                <a:highlight>
                  <a:srgbClr val="FFFFFF"/>
                </a:highlight>
                <a:latin typeface="Trebuchet MS"/>
                <a:ea typeface="Trebuchet MS"/>
                <a:cs typeface="Trebuchet MS"/>
                <a:sym typeface="Trebuchet MS"/>
              </a:rPr>
              <a:t>Cy</a:t>
            </a:r>
          </a:p>
        </p:txBody>
      </p:sp>
      <p:sp>
        <p:nvSpPr>
          <p:cNvPr id="102" name="Google Shape;102;p18"/>
          <p:cNvSpPr txBox="1">
            <a:spLocks noGrp="1"/>
          </p:cNvSpPr>
          <p:nvPr>
            <p:ph type="body" idx="1"/>
          </p:nvPr>
        </p:nvSpPr>
        <p:spPr>
          <a:xfrm>
            <a:off x="2400250" y="1043808"/>
            <a:ext cx="6321600" cy="3301668"/>
          </a:xfrm>
          <a:prstGeom prst="rect">
            <a:avLst/>
          </a:prstGeom>
        </p:spPr>
        <p:txBody>
          <a:bodyPr spcFirstLastPara="1" wrap="square" lIns="91425" tIns="91425" rIns="91425" bIns="91425" anchor="t" anchorCtr="0">
            <a:noAutofit/>
          </a:bodyPr>
          <a:lstStyle/>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 Supports deep learning workflows that allow connecting statistical models trained by popular machine learning libraries like TensorFlow, PyTorch or MXNet through its own machine learning library Thinc.</a:t>
            </a:r>
            <a:br>
              <a:rPr lang="en-US" sz="1600" dirty="0">
                <a:solidFill>
                  <a:srgbClr val="666666"/>
                </a:solidFill>
                <a:latin typeface="Roboto" panose="020B0604020202020204" charset="0"/>
                <a:ea typeface="Roboto" panose="020B0604020202020204" charset="0"/>
                <a:cs typeface="Trebuchet MS"/>
                <a:sym typeface="Trebuchet MS"/>
              </a:rPr>
            </a:br>
            <a:endParaRPr lang="en-US" sz="1600" dirty="0">
              <a:solidFill>
                <a:srgbClr val="666666"/>
              </a:solidFill>
              <a:latin typeface="Roboto" panose="020B0604020202020204" charset="0"/>
              <a:ea typeface="Roboto" panose="020B0604020202020204" charset="0"/>
              <a:cs typeface="Trebuchet MS"/>
              <a:sym typeface="Trebuchet MS"/>
            </a:endParaRPr>
          </a:p>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Using Thinc as its backend, SpaCy features convolutional neural network models for part-of-speech tagging, dependency parsing, text categorization and named entity recognition (NER)</a:t>
            </a:r>
          </a:p>
          <a:p>
            <a:pPr marL="171450" indent="-171450">
              <a:lnSpc>
                <a:spcPct val="100000"/>
              </a:lnSpc>
            </a:pPr>
            <a:endParaRPr lang="en-US" sz="1600" dirty="0">
              <a:solidFill>
                <a:srgbClr val="666666"/>
              </a:solidFill>
              <a:latin typeface="Roboto" panose="020B0604020202020204" charset="0"/>
              <a:ea typeface="Roboto" panose="020B0604020202020204" charset="0"/>
              <a:cs typeface="Trebuchet MS"/>
              <a:sym typeface="Trebuchet MS"/>
            </a:endParaRPr>
          </a:p>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 Tokenization for more than 50 languages </a:t>
            </a:r>
            <a:br>
              <a:rPr lang="en-US" sz="1600" dirty="0">
                <a:solidFill>
                  <a:srgbClr val="666666"/>
                </a:solidFill>
                <a:latin typeface="Roboto" panose="020B0604020202020204" charset="0"/>
                <a:ea typeface="Roboto" panose="020B0604020202020204" charset="0"/>
                <a:cs typeface="Trebuchet MS"/>
                <a:sym typeface="Trebuchet MS"/>
              </a:rPr>
            </a:br>
            <a:endParaRPr lang="en-US" sz="1600" dirty="0">
              <a:solidFill>
                <a:srgbClr val="666666"/>
              </a:solidFill>
              <a:latin typeface="Roboto" panose="020B0604020202020204" charset="0"/>
              <a:ea typeface="Roboto" panose="020B0604020202020204" charset="0"/>
              <a:cs typeface="Trebuchet MS"/>
              <a:sym typeface="Trebuchet MS"/>
            </a:endParaRPr>
          </a:p>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Available for English, German, Greek, Spanish, Portuguese, French, Italian, Dutch, Lithuanian and Norwegian </a:t>
            </a:r>
          </a:p>
        </p:txBody>
      </p:sp>
      <p:pic>
        <p:nvPicPr>
          <p:cNvPr id="3" name="Picture 2" descr="Logo&#10;&#10;Description automatically generated">
            <a:extLst>
              <a:ext uri="{FF2B5EF4-FFF2-40B4-BE49-F238E27FC236}">
                <a16:creationId xmlns:a16="http://schemas.microsoft.com/office/drawing/2014/main" id="{E63D0FBC-33A2-4377-87FD-9E119BE843C5}"/>
              </a:ext>
            </a:extLst>
          </p:cNvPr>
          <p:cNvPicPr>
            <a:picLocks noChangeAspect="1"/>
          </p:cNvPicPr>
          <p:nvPr/>
        </p:nvPicPr>
        <p:blipFill>
          <a:blip r:embed="rId3"/>
          <a:stretch>
            <a:fillRect/>
          </a:stretch>
        </p:blipFill>
        <p:spPr>
          <a:xfrm>
            <a:off x="323800" y="1829419"/>
            <a:ext cx="2076450" cy="742331"/>
          </a:xfrm>
          <a:prstGeom prst="rect">
            <a:avLst/>
          </a:prstGeom>
        </p:spPr>
      </p:pic>
    </p:spTree>
    <p:extLst>
      <p:ext uri="{BB962C8B-B14F-4D97-AF65-F5344CB8AC3E}">
        <p14:creationId xmlns:p14="http://schemas.microsoft.com/office/powerpoint/2010/main" val="42627732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5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2">
                                            <p:txEl>
                                              <p:pRg st="0" end="0"/>
                                            </p:txEl>
                                          </p:spTgt>
                                        </p:tgtEl>
                                        <p:attrNameLst>
                                          <p:attrName>style.visibility</p:attrName>
                                        </p:attrNameLst>
                                      </p:cBhvr>
                                      <p:to>
                                        <p:strVal val="visible"/>
                                      </p:to>
                                    </p:set>
                                    <p:animEffect transition="in" filter="fade">
                                      <p:cBhvr>
                                        <p:cTn id="15" dur="500"/>
                                        <p:tgtEl>
                                          <p:spTgt spid="10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2">
                                            <p:txEl>
                                              <p:pRg st="1" end="1"/>
                                            </p:txEl>
                                          </p:spTgt>
                                        </p:tgtEl>
                                        <p:attrNameLst>
                                          <p:attrName>style.visibility</p:attrName>
                                        </p:attrNameLst>
                                      </p:cBhvr>
                                      <p:to>
                                        <p:strVal val="visible"/>
                                      </p:to>
                                    </p:set>
                                    <p:animEffect transition="in" filter="fade">
                                      <p:cBhvr>
                                        <p:cTn id="20" dur="500"/>
                                        <p:tgtEl>
                                          <p:spTgt spid="10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2">
                                            <p:txEl>
                                              <p:pRg st="3" end="3"/>
                                            </p:txEl>
                                          </p:spTgt>
                                        </p:tgtEl>
                                        <p:attrNameLst>
                                          <p:attrName>style.visibility</p:attrName>
                                        </p:attrNameLst>
                                      </p:cBhvr>
                                      <p:to>
                                        <p:strVal val="visible"/>
                                      </p:to>
                                    </p:set>
                                    <p:animEffect transition="in" filter="fade">
                                      <p:cBhvr>
                                        <p:cTn id="25" dur="500"/>
                                        <p:tgtEl>
                                          <p:spTgt spid="102">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2">
                                            <p:txEl>
                                              <p:pRg st="4" end="4"/>
                                            </p:txEl>
                                          </p:spTgt>
                                        </p:tgtEl>
                                        <p:attrNameLst>
                                          <p:attrName>style.visibility</p:attrName>
                                        </p:attrNameLst>
                                      </p:cBhvr>
                                      <p:to>
                                        <p:strVal val="visible"/>
                                      </p:to>
                                    </p:set>
                                    <p:animEffect transition="in" filter="fade">
                                      <p:cBhvr>
                                        <p:cTn id="30" dur="500"/>
                                        <p:tgtEl>
                                          <p:spTgt spid="10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2400250" y="449825"/>
            <a:ext cx="6321600" cy="727333"/>
          </a:xfrm>
          <a:prstGeom prst="rect">
            <a:avLst/>
          </a:prstGeom>
        </p:spPr>
        <p:txBody>
          <a:bodyPr spcFirstLastPara="1" wrap="square" lIns="91425" tIns="91425" rIns="91425" bIns="91425" anchor="t" anchorCtr="0">
            <a:noAutofit/>
          </a:bodyPr>
          <a:lstStyle/>
          <a:p>
            <a:pPr marL="190500" lvl="0" indent="0" algn="l" rtl="0">
              <a:lnSpc>
                <a:spcPct val="120000"/>
              </a:lnSpc>
              <a:spcBef>
                <a:spcPts val="0"/>
              </a:spcBef>
              <a:spcAft>
                <a:spcPts val="500"/>
              </a:spcAft>
              <a:buNone/>
            </a:pPr>
            <a:r>
              <a:rPr lang="en-US" sz="2350" dirty="0">
                <a:solidFill>
                  <a:srgbClr val="232C39"/>
                </a:solidFill>
                <a:highlight>
                  <a:srgbClr val="FFFFFF"/>
                </a:highlight>
                <a:latin typeface="Trebuchet MS"/>
                <a:ea typeface="Trebuchet MS"/>
                <a:cs typeface="Trebuchet MS"/>
                <a:sym typeface="Trebuchet MS"/>
              </a:rPr>
              <a:t>Spa</a:t>
            </a:r>
            <a:r>
              <a:rPr lang="en-US" sz="2350" dirty="0">
                <a:solidFill>
                  <a:schemeClr val="tx1"/>
                </a:solidFill>
                <a:highlight>
                  <a:srgbClr val="FFFFFF"/>
                </a:highlight>
                <a:latin typeface="Trebuchet MS"/>
                <a:ea typeface="Trebuchet MS"/>
                <a:cs typeface="Trebuchet MS"/>
                <a:sym typeface="Trebuchet MS"/>
              </a:rPr>
              <a:t>Cy</a:t>
            </a:r>
          </a:p>
        </p:txBody>
      </p:sp>
      <p:sp>
        <p:nvSpPr>
          <p:cNvPr id="102" name="Google Shape;102;p18"/>
          <p:cNvSpPr txBox="1">
            <a:spLocks noGrp="1"/>
          </p:cNvSpPr>
          <p:nvPr>
            <p:ph type="body" idx="1"/>
          </p:nvPr>
        </p:nvSpPr>
        <p:spPr>
          <a:xfrm>
            <a:off x="2400250" y="996183"/>
            <a:ext cx="6321600" cy="3301668"/>
          </a:xfrm>
          <a:prstGeom prst="rect">
            <a:avLst/>
          </a:prstGeom>
        </p:spPr>
        <p:txBody>
          <a:bodyPr spcFirstLastPara="1" wrap="square" lIns="91425" tIns="91425" rIns="91425" bIns="91425" anchor="t" anchorCtr="0">
            <a:noAutofit/>
          </a:bodyPr>
          <a:lstStyle/>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 Non-destructive tokenization</a:t>
            </a:r>
          </a:p>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 Named entity recognition</a:t>
            </a:r>
          </a:p>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"Alpha tokenization" support for over 50 languages</a:t>
            </a:r>
          </a:p>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Statistical models for 11 languages</a:t>
            </a:r>
          </a:p>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Pre-trained word vectors</a:t>
            </a:r>
          </a:p>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Part-of-speech tagging</a:t>
            </a:r>
          </a:p>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Labelled dependency parsing</a:t>
            </a:r>
          </a:p>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Syntax-driven sentence segmentation</a:t>
            </a:r>
          </a:p>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Text classification</a:t>
            </a:r>
          </a:p>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Built-in visualizers for syntax and named entities</a:t>
            </a:r>
          </a:p>
          <a:p>
            <a:pPr marL="171450" indent="-171450">
              <a:lnSpc>
                <a:spcPct val="100000"/>
              </a:lnSpc>
            </a:pPr>
            <a:r>
              <a:rPr lang="en-US" sz="1600" dirty="0">
                <a:solidFill>
                  <a:srgbClr val="666666"/>
                </a:solidFill>
                <a:latin typeface="Roboto" panose="020B0604020202020204" charset="0"/>
                <a:ea typeface="Roboto" panose="020B0604020202020204" charset="0"/>
                <a:cs typeface="Trebuchet MS"/>
                <a:sym typeface="Trebuchet MS"/>
              </a:rPr>
              <a:t>Deep learning integration</a:t>
            </a:r>
          </a:p>
        </p:txBody>
      </p:sp>
      <p:pic>
        <p:nvPicPr>
          <p:cNvPr id="4" name="Picture 3" descr="Logo&#10;&#10;Description automatically generated">
            <a:extLst>
              <a:ext uri="{FF2B5EF4-FFF2-40B4-BE49-F238E27FC236}">
                <a16:creationId xmlns:a16="http://schemas.microsoft.com/office/drawing/2014/main" id="{945B0303-FD07-4005-90E6-F88CBAF4CBFF}"/>
              </a:ext>
            </a:extLst>
          </p:cNvPr>
          <p:cNvPicPr>
            <a:picLocks noChangeAspect="1"/>
          </p:cNvPicPr>
          <p:nvPr/>
        </p:nvPicPr>
        <p:blipFill>
          <a:blip r:embed="rId3"/>
          <a:stretch>
            <a:fillRect/>
          </a:stretch>
        </p:blipFill>
        <p:spPr>
          <a:xfrm>
            <a:off x="323800" y="1829419"/>
            <a:ext cx="2076450" cy="742331"/>
          </a:xfrm>
          <a:prstGeom prst="rect">
            <a:avLst/>
          </a:prstGeom>
        </p:spPr>
      </p:pic>
    </p:spTree>
    <p:extLst>
      <p:ext uri="{BB962C8B-B14F-4D97-AF65-F5344CB8AC3E}">
        <p14:creationId xmlns:p14="http://schemas.microsoft.com/office/powerpoint/2010/main" val="37892886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
                                            <p:txEl>
                                              <p:pRg st="0" end="0"/>
                                            </p:txEl>
                                          </p:spTgt>
                                        </p:tgtEl>
                                        <p:attrNameLst>
                                          <p:attrName>style.visibility</p:attrName>
                                        </p:attrNameLst>
                                      </p:cBhvr>
                                      <p:to>
                                        <p:strVal val="visible"/>
                                      </p:to>
                                    </p:set>
                                    <p:animEffect transition="in" filter="fade">
                                      <p:cBhvr>
                                        <p:cTn id="7" dur="500"/>
                                        <p:tgtEl>
                                          <p:spTgt spid="1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
                                            <p:txEl>
                                              <p:pRg st="1" end="1"/>
                                            </p:txEl>
                                          </p:spTgt>
                                        </p:tgtEl>
                                        <p:attrNameLst>
                                          <p:attrName>style.visibility</p:attrName>
                                        </p:attrNameLst>
                                      </p:cBhvr>
                                      <p:to>
                                        <p:strVal val="visible"/>
                                      </p:to>
                                    </p:set>
                                    <p:animEffect transition="in" filter="fade">
                                      <p:cBhvr>
                                        <p:cTn id="12" dur="500"/>
                                        <p:tgtEl>
                                          <p:spTgt spid="10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
                                            <p:txEl>
                                              <p:pRg st="2" end="2"/>
                                            </p:txEl>
                                          </p:spTgt>
                                        </p:tgtEl>
                                        <p:attrNameLst>
                                          <p:attrName>style.visibility</p:attrName>
                                        </p:attrNameLst>
                                      </p:cBhvr>
                                      <p:to>
                                        <p:strVal val="visible"/>
                                      </p:to>
                                    </p:set>
                                    <p:animEffect transition="in" filter="fade">
                                      <p:cBhvr>
                                        <p:cTn id="17" dur="500"/>
                                        <p:tgtEl>
                                          <p:spTgt spid="10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
                                            <p:txEl>
                                              <p:pRg st="3" end="3"/>
                                            </p:txEl>
                                          </p:spTgt>
                                        </p:tgtEl>
                                        <p:attrNameLst>
                                          <p:attrName>style.visibility</p:attrName>
                                        </p:attrNameLst>
                                      </p:cBhvr>
                                      <p:to>
                                        <p:strVal val="visible"/>
                                      </p:to>
                                    </p:set>
                                    <p:animEffect transition="in" filter="fade">
                                      <p:cBhvr>
                                        <p:cTn id="22" dur="500"/>
                                        <p:tgtEl>
                                          <p:spTgt spid="10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
                                            <p:txEl>
                                              <p:pRg st="4" end="4"/>
                                            </p:txEl>
                                          </p:spTgt>
                                        </p:tgtEl>
                                        <p:attrNameLst>
                                          <p:attrName>style.visibility</p:attrName>
                                        </p:attrNameLst>
                                      </p:cBhvr>
                                      <p:to>
                                        <p:strVal val="visible"/>
                                      </p:to>
                                    </p:set>
                                    <p:animEffect transition="in" filter="fade">
                                      <p:cBhvr>
                                        <p:cTn id="27" dur="500"/>
                                        <p:tgtEl>
                                          <p:spTgt spid="10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2">
                                            <p:txEl>
                                              <p:pRg st="5" end="5"/>
                                            </p:txEl>
                                          </p:spTgt>
                                        </p:tgtEl>
                                        <p:attrNameLst>
                                          <p:attrName>style.visibility</p:attrName>
                                        </p:attrNameLst>
                                      </p:cBhvr>
                                      <p:to>
                                        <p:strVal val="visible"/>
                                      </p:to>
                                    </p:set>
                                    <p:animEffect transition="in" filter="fade">
                                      <p:cBhvr>
                                        <p:cTn id="32" dur="500"/>
                                        <p:tgtEl>
                                          <p:spTgt spid="10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2">
                                            <p:txEl>
                                              <p:pRg st="6" end="6"/>
                                            </p:txEl>
                                          </p:spTgt>
                                        </p:tgtEl>
                                        <p:attrNameLst>
                                          <p:attrName>style.visibility</p:attrName>
                                        </p:attrNameLst>
                                      </p:cBhvr>
                                      <p:to>
                                        <p:strVal val="visible"/>
                                      </p:to>
                                    </p:set>
                                    <p:animEffect transition="in" filter="fade">
                                      <p:cBhvr>
                                        <p:cTn id="37" dur="500"/>
                                        <p:tgtEl>
                                          <p:spTgt spid="10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2">
                                            <p:txEl>
                                              <p:pRg st="7" end="7"/>
                                            </p:txEl>
                                          </p:spTgt>
                                        </p:tgtEl>
                                        <p:attrNameLst>
                                          <p:attrName>style.visibility</p:attrName>
                                        </p:attrNameLst>
                                      </p:cBhvr>
                                      <p:to>
                                        <p:strVal val="visible"/>
                                      </p:to>
                                    </p:set>
                                    <p:animEffect transition="in" filter="fade">
                                      <p:cBhvr>
                                        <p:cTn id="42" dur="500"/>
                                        <p:tgtEl>
                                          <p:spTgt spid="10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2">
                                            <p:txEl>
                                              <p:pRg st="8" end="8"/>
                                            </p:txEl>
                                          </p:spTgt>
                                        </p:tgtEl>
                                        <p:attrNameLst>
                                          <p:attrName>style.visibility</p:attrName>
                                        </p:attrNameLst>
                                      </p:cBhvr>
                                      <p:to>
                                        <p:strVal val="visible"/>
                                      </p:to>
                                    </p:set>
                                    <p:animEffect transition="in" filter="fade">
                                      <p:cBhvr>
                                        <p:cTn id="47" dur="500"/>
                                        <p:tgtEl>
                                          <p:spTgt spid="10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02">
                                            <p:txEl>
                                              <p:pRg st="9" end="9"/>
                                            </p:txEl>
                                          </p:spTgt>
                                        </p:tgtEl>
                                        <p:attrNameLst>
                                          <p:attrName>style.visibility</p:attrName>
                                        </p:attrNameLst>
                                      </p:cBhvr>
                                      <p:to>
                                        <p:strVal val="visible"/>
                                      </p:to>
                                    </p:set>
                                    <p:animEffect transition="in" filter="fade">
                                      <p:cBhvr>
                                        <p:cTn id="52" dur="500"/>
                                        <p:tgtEl>
                                          <p:spTgt spid="10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02">
                                            <p:txEl>
                                              <p:pRg st="10" end="10"/>
                                            </p:txEl>
                                          </p:spTgt>
                                        </p:tgtEl>
                                        <p:attrNameLst>
                                          <p:attrName>style.visibility</p:attrName>
                                        </p:attrNameLst>
                                      </p:cBhvr>
                                      <p:to>
                                        <p:strVal val="visible"/>
                                      </p:to>
                                    </p:set>
                                    <p:animEffect transition="in" filter="fade">
                                      <p:cBhvr>
                                        <p:cTn id="57" dur="500"/>
                                        <p:tgtEl>
                                          <p:spTgt spid="10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2400250" y="449825"/>
            <a:ext cx="6321600" cy="727333"/>
          </a:xfrm>
          <a:prstGeom prst="rect">
            <a:avLst/>
          </a:prstGeom>
        </p:spPr>
        <p:txBody>
          <a:bodyPr spcFirstLastPara="1" wrap="square" lIns="91425" tIns="91425" rIns="91425" bIns="91425" anchor="t" anchorCtr="0">
            <a:noAutofit/>
          </a:bodyPr>
          <a:lstStyle/>
          <a:p>
            <a:pPr marL="190500" lvl="0" indent="0" algn="l" rtl="0">
              <a:lnSpc>
                <a:spcPct val="120000"/>
              </a:lnSpc>
              <a:spcBef>
                <a:spcPts val="0"/>
              </a:spcBef>
              <a:spcAft>
                <a:spcPts val="500"/>
              </a:spcAft>
              <a:buNone/>
            </a:pPr>
            <a:r>
              <a:rPr lang="en-US" sz="2350" dirty="0">
                <a:solidFill>
                  <a:srgbClr val="232C39"/>
                </a:solidFill>
                <a:highlight>
                  <a:srgbClr val="FFFFFF"/>
                </a:highlight>
                <a:latin typeface="Trebuchet MS"/>
                <a:ea typeface="Trebuchet MS"/>
                <a:cs typeface="Trebuchet MS"/>
                <a:sym typeface="Trebuchet MS"/>
              </a:rPr>
              <a:t>Spa</a:t>
            </a:r>
            <a:r>
              <a:rPr lang="en-US" sz="2350" dirty="0">
                <a:solidFill>
                  <a:schemeClr val="tx1"/>
                </a:solidFill>
                <a:highlight>
                  <a:srgbClr val="FFFFFF"/>
                </a:highlight>
                <a:latin typeface="Trebuchet MS"/>
                <a:ea typeface="Trebuchet MS"/>
                <a:cs typeface="Trebuchet MS"/>
                <a:sym typeface="Trebuchet MS"/>
              </a:rPr>
              <a:t>Cy</a:t>
            </a:r>
          </a:p>
        </p:txBody>
      </p:sp>
      <p:sp>
        <p:nvSpPr>
          <p:cNvPr id="102" name="Google Shape;102;p18"/>
          <p:cNvSpPr txBox="1">
            <a:spLocks noGrp="1"/>
          </p:cNvSpPr>
          <p:nvPr>
            <p:ph type="body" idx="1"/>
          </p:nvPr>
        </p:nvSpPr>
        <p:spPr>
          <a:xfrm>
            <a:off x="2400250" y="1005707"/>
            <a:ext cx="6321600" cy="3301668"/>
          </a:xfrm>
          <a:prstGeom prst="rect">
            <a:avLst/>
          </a:prstGeom>
        </p:spPr>
        <p:txBody>
          <a:bodyPr spcFirstLastPara="1" wrap="square" lIns="91425" tIns="91425" rIns="91425" bIns="91425" anchor="t" anchorCtr="0">
            <a:noAutofit/>
          </a:bodyPr>
          <a:lstStyle/>
          <a:p>
            <a:pPr marL="0" indent="0">
              <a:lnSpc>
                <a:spcPct val="100000"/>
              </a:lnSpc>
              <a:buNone/>
            </a:pPr>
            <a:r>
              <a:rPr lang="en-US" sz="1300" dirty="0">
                <a:solidFill>
                  <a:srgbClr val="666666"/>
                </a:solidFill>
                <a:latin typeface="Roboto" panose="020B0604020202020204" charset="0"/>
                <a:ea typeface="Roboto" panose="020B0604020202020204" charset="0"/>
                <a:cs typeface="Trebuchet MS"/>
                <a:sym typeface="Trebuchet MS"/>
              </a:rPr>
              <a:t>Extensions and Visualizers</a:t>
            </a:r>
            <a:br>
              <a:rPr lang="en-US" sz="1300" dirty="0">
                <a:solidFill>
                  <a:srgbClr val="666666"/>
                </a:solidFill>
                <a:latin typeface="Roboto" panose="020B0604020202020204" charset="0"/>
                <a:ea typeface="Roboto" panose="020B0604020202020204" charset="0"/>
                <a:cs typeface="Trebuchet MS"/>
                <a:sym typeface="Trebuchet MS"/>
              </a:rPr>
            </a:br>
            <a:endParaRPr lang="en-US" sz="1300" dirty="0">
              <a:solidFill>
                <a:srgbClr val="666666"/>
              </a:solidFill>
              <a:latin typeface="Roboto" panose="020B0604020202020204" charset="0"/>
              <a:ea typeface="Roboto" panose="020B0604020202020204" charset="0"/>
              <a:cs typeface="Trebuchet MS"/>
              <a:sym typeface="Trebuchet MS"/>
            </a:endParaRPr>
          </a:p>
          <a:p>
            <a:pPr marL="285750" indent="-285750">
              <a:lnSpc>
                <a:spcPct val="100000"/>
              </a:lnSpc>
            </a:pPr>
            <a:r>
              <a:rPr lang="en-US" sz="1300" dirty="0">
                <a:solidFill>
                  <a:srgbClr val="666666"/>
                </a:solidFill>
                <a:latin typeface="Roboto" panose="020B0604020202020204" charset="0"/>
                <a:ea typeface="Roboto" panose="020B0604020202020204" charset="0"/>
                <a:cs typeface="Trebuchet MS"/>
                <a:sym typeface="Trebuchet MS"/>
              </a:rPr>
              <a:t>Thinc: A machine learning library optimized for CPU usage and deep learning with text input.</a:t>
            </a:r>
            <a:br>
              <a:rPr lang="en-US" sz="1300" dirty="0">
                <a:solidFill>
                  <a:srgbClr val="666666"/>
                </a:solidFill>
                <a:latin typeface="Roboto" panose="020B0604020202020204" charset="0"/>
                <a:ea typeface="Roboto" panose="020B0604020202020204" charset="0"/>
                <a:cs typeface="Trebuchet MS"/>
                <a:sym typeface="Trebuchet MS"/>
              </a:rPr>
            </a:br>
            <a:endParaRPr lang="en-US" sz="1300" dirty="0">
              <a:solidFill>
                <a:srgbClr val="666666"/>
              </a:solidFill>
              <a:latin typeface="Roboto" panose="020B0604020202020204" charset="0"/>
              <a:ea typeface="Roboto" panose="020B0604020202020204" charset="0"/>
              <a:cs typeface="Trebuchet MS"/>
              <a:sym typeface="Trebuchet MS"/>
            </a:endParaRPr>
          </a:p>
          <a:p>
            <a:pPr marL="285750" indent="-285750">
              <a:lnSpc>
                <a:spcPct val="100000"/>
              </a:lnSpc>
            </a:pPr>
            <a:r>
              <a:rPr lang="en-US" sz="1300" dirty="0">
                <a:solidFill>
                  <a:srgbClr val="666666"/>
                </a:solidFill>
                <a:latin typeface="Roboto" panose="020B0604020202020204" charset="0"/>
                <a:ea typeface="Roboto" panose="020B0604020202020204" charset="0"/>
                <a:cs typeface="Trebuchet MS"/>
                <a:sym typeface="Trebuchet MS"/>
              </a:rPr>
              <a:t>sense2vec: A library for computing word similarities, based on Word2vec and sense2vec.</a:t>
            </a:r>
            <a:br>
              <a:rPr lang="en-US" sz="1300" dirty="0">
                <a:solidFill>
                  <a:srgbClr val="666666"/>
                </a:solidFill>
                <a:latin typeface="Roboto" panose="020B0604020202020204" charset="0"/>
                <a:ea typeface="Roboto" panose="020B0604020202020204" charset="0"/>
                <a:cs typeface="Trebuchet MS"/>
                <a:sym typeface="Trebuchet MS"/>
              </a:rPr>
            </a:br>
            <a:endParaRPr lang="en-US" sz="1300" dirty="0">
              <a:solidFill>
                <a:srgbClr val="666666"/>
              </a:solidFill>
              <a:latin typeface="Roboto" panose="020B0604020202020204" charset="0"/>
              <a:ea typeface="Roboto" panose="020B0604020202020204" charset="0"/>
              <a:cs typeface="Trebuchet MS"/>
              <a:sym typeface="Trebuchet MS"/>
            </a:endParaRPr>
          </a:p>
          <a:p>
            <a:pPr marL="285750" indent="-285750">
              <a:lnSpc>
                <a:spcPct val="100000"/>
              </a:lnSpc>
            </a:pPr>
            <a:r>
              <a:rPr lang="en-US" sz="1300" dirty="0">
                <a:solidFill>
                  <a:srgbClr val="666666"/>
                </a:solidFill>
                <a:latin typeface="Roboto" panose="020B0604020202020204" charset="0"/>
                <a:ea typeface="Roboto" panose="020B0604020202020204" charset="0"/>
                <a:cs typeface="Trebuchet MS"/>
                <a:sym typeface="Trebuchet MS"/>
              </a:rPr>
              <a:t>displaCy: An open-source dependency parse tree visualizer built with JavaScript, CSS and SVG.</a:t>
            </a:r>
            <a:br>
              <a:rPr lang="en-US" sz="1300" dirty="0">
                <a:solidFill>
                  <a:srgbClr val="666666"/>
                </a:solidFill>
                <a:latin typeface="Roboto" panose="020B0604020202020204" charset="0"/>
                <a:ea typeface="Roboto" panose="020B0604020202020204" charset="0"/>
                <a:cs typeface="Trebuchet MS"/>
                <a:sym typeface="Trebuchet MS"/>
              </a:rPr>
            </a:br>
            <a:endParaRPr lang="en-US" sz="1300" dirty="0">
              <a:solidFill>
                <a:srgbClr val="666666"/>
              </a:solidFill>
              <a:latin typeface="Roboto" panose="020B0604020202020204" charset="0"/>
              <a:ea typeface="Roboto" panose="020B0604020202020204" charset="0"/>
              <a:cs typeface="Trebuchet MS"/>
              <a:sym typeface="Trebuchet MS"/>
            </a:endParaRPr>
          </a:p>
          <a:p>
            <a:pPr marL="285750" indent="-285750">
              <a:lnSpc>
                <a:spcPct val="100000"/>
              </a:lnSpc>
            </a:pPr>
            <a:r>
              <a:rPr lang="en-US" sz="1300" dirty="0">
                <a:solidFill>
                  <a:srgbClr val="666666"/>
                </a:solidFill>
                <a:latin typeface="Roboto" panose="020B0604020202020204" charset="0"/>
                <a:ea typeface="Roboto" panose="020B0604020202020204" charset="0"/>
                <a:cs typeface="Trebuchet MS"/>
                <a:sym typeface="Trebuchet MS"/>
              </a:rPr>
              <a:t>displaCyENT: An open-source named entity visualizer built with JavaScript and CSS.</a:t>
            </a:r>
          </a:p>
          <a:p>
            <a:pPr marL="0" indent="0">
              <a:lnSpc>
                <a:spcPct val="100000"/>
              </a:lnSpc>
              <a:buNone/>
            </a:pPr>
            <a:endParaRPr lang="en-US" sz="1300" dirty="0">
              <a:solidFill>
                <a:srgbClr val="666666"/>
              </a:solidFill>
              <a:latin typeface="Roboto" panose="020B0604020202020204" charset="0"/>
              <a:ea typeface="Roboto" panose="020B0604020202020204" charset="0"/>
              <a:cs typeface="Trebuchet MS"/>
              <a:sym typeface="Trebuchet MS"/>
            </a:endParaRPr>
          </a:p>
          <a:p>
            <a:pPr marL="171450" indent="-171450">
              <a:lnSpc>
                <a:spcPct val="100000"/>
              </a:lnSpc>
            </a:pPr>
            <a:r>
              <a:rPr lang="en-US" sz="1300" dirty="0">
                <a:solidFill>
                  <a:srgbClr val="666666"/>
                </a:solidFill>
                <a:latin typeface="Roboto" panose="020B0604020202020204" charset="0"/>
                <a:ea typeface="Roboto" panose="020B0604020202020204" charset="0"/>
                <a:cs typeface="Trebuchet MS"/>
                <a:sym typeface="Trebuchet MS"/>
              </a:rPr>
              <a:t>Language – Python</a:t>
            </a:r>
            <a:br>
              <a:rPr lang="en-US" sz="1300" dirty="0">
                <a:solidFill>
                  <a:srgbClr val="666666"/>
                </a:solidFill>
                <a:latin typeface="Roboto" panose="020B0604020202020204" charset="0"/>
                <a:ea typeface="Roboto" panose="020B0604020202020204" charset="0"/>
                <a:cs typeface="Trebuchet MS"/>
                <a:sym typeface="Trebuchet MS"/>
              </a:rPr>
            </a:br>
            <a:endParaRPr lang="en-US" sz="1300" dirty="0">
              <a:solidFill>
                <a:srgbClr val="666666"/>
              </a:solidFill>
              <a:latin typeface="Roboto" panose="020B0604020202020204" charset="0"/>
              <a:ea typeface="Roboto" panose="020B0604020202020204" charset="0"/>
              <a:cs typeface="Trebuchet MS"/>
              <a:sym typeface="Trebuchet MS"/>
            </a:endParaRPr>
          </a:p>
          <a:p>
            <a:pPr marL="171450" indent="-171450">
              <a:lnSpc>
                <a:spcPct val="100000"/>
              </a:lnSpc>
            </a:pPr>
            <a:r>
              <a:rPr lang="en-US" sz="1300" dirty="0">
                <a:solidFill>
                  <a:srgbClr val="666666"/>
                </a:solidFill>
                <a:latin typeface="Roboto" panose="020B0604020202020204" charset="0"/>
                <a:ea typeface="Roboto" panose="020B0604020202020204" charset="0"/>
                <a:cs typeface="Trebuchet MS"/>
                <a:sym typeface="Trebuchet MS"/>
              </a:rPr>
              <a:t>Price - Free</a:t>
            </a:r>
          </a:p>
        </p:txBody>
      </p:sp>
      <p:pic>
        <p:nvPicPr>
          <p:cNvPr id="4" name="Picture 3" descr="Logo&#10;&#10;Description automatically generated">
            <a:extLst>
              <a:ext uri="{FF2B5EF4-FFF2-40B4-BE49-F238E27FC236}">
                <a16:creationId xmlns:a16="http://schemas.microsoft.com/office/drawing/2014/main" id="{703DF2C9-AF29-44AA-A940-2ADBAAA34647}"/>
              </a:ext>
            </a:extLst>
          </p:cNvPr>
          <p:cNvPicPr>
            <a:picLocks noChangeAspect="1"/>
          </p:cNvPicPr>
          <p:nvPr/>
        </p:nvPicPr>
        <p:blipFill>
          <a:blip r:embed="rId3"/>
          <a:stretch>
            <a:fillRect/>
          </a:stretch>
        </p:blipFill>
        <p:spPr>
          <a:xfrm>
            <a:off x="323800" y="1829419"/>
            <a:ext cx="2076450" cy="742331"/>
          </a:xfrm>
          <a:prstGeom prst="rect">
            <a:avLst/>
          </a:prstGeom>
        </p:spPr>
      </p:pic>
    </p:spTree>
    <p:extLst>
      <p:ext uri="{BB962C8B-B14F-4D97-AF65-F5344CB8AC3E}">
        <p14:creationId xmlns:p14="http://schemas.microsoft.com/office/powerpoint/2010/main" val="1007450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500"/>
                                        <p:tgtEl>
                                          <p:spTgt spid="10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2">
                                            <p:txEl>
                                              <p:pRg st="0" end="0"/>
                                            </p:txEl>
                                          </p:spTgt>
                                        </p:tgtEl>
                                        <p:attrNameLst>
                                          <p:attrName>style.visibility</p:attrName>
                                        </p:attrNameLst>
                                      </p:cBhvr>
                                      <p:to>
                                        <p:strVal val="visible"/>
                                      </p:to>
                                    </p:set>
                                    <p:animEffect transition="in" filter="fade">
                                      <p:cBhvr>
                                        <p:cTn id="15" dur="500"/>
                                        <p:tgtEl>
                                          <p:spTgt spid="10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2">
                                            <p:txEl>
                                              <p:pRg st="1" end="1"/>
                                            </p:txEl>
                                          </p:spTgt>
                                        </p:tgtEl>
                                        <p:attrNameLst>
                                          <p:attrName>style.visibility</p:attrName>
                                        </p:attrNameLst>
                                      </p:cBhvr>
                                      <p:to>
                                        <p:strVal val="visible"/>
                                      </p:to>
                                    </p:set>
                                    <p:animEffect transition="in" filter="fade">
                                      <p:cBhvr>
                                        <p:cTn id="20" dur="500"/>
                                        <p:tgtEl>
                                          <p:spTgt spid="10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2">
                                            <p:txEl>
                                              <p:pRg st="2" end="2"/>
                                            </p:txEl>
                                          </p:spTgt>
                                        </p:tgtEl>
                                        <p:attrNameLst>
                                          <p:attrName>style.visibility</p:attrName>
                                        </p:attrNameLst>
                                      </p:cBhvr>
                                      <p:to>
                                        <p:strVal val="visible"/>
                                      </p:to>
                                    </p:set>
                                    <p:animEffect transition="in" filter="fade">
                                      <p:cBhvr>
                                        <p:cTn id="25" dur="500"/>
                                        <p:tgtEl>
                                          <p:spTgt spid="102">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2">
                                            <p:txEl>
                                              <p:pRg st="3" end="3"/>
                                            </p:txEl>
                                          </p:spTgt>
                                        </p:tgtEl>
                                        <p:attrNameLst>
                                          <p:attrName>style.visibility</p:attrName>
                                        </p:attrNameLst>
                                      </p:cBhvr>
                                      <p:to>
                                        <p:strVal val="visible"/>
                                      </p:to>
                                    </p:set>
                                    <p:animEffect transition="in" filter="fade">
                                      <p:cBhvr>
                                        <p:cTn id="30" dur="500"/>
                                        <p:tgtEl>
                                          <p:spTgt spid="102">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2">
                                            <p:txEl>
                                              <p:pRg st="4" end="4"/>
                                            </p:txEl>
                                          </p:spTgt>
                                        </p:tgtEl>
                                        <p:attrNameLst>
                                          <p:attrName>style.visibility</p:attrName>
                                        </p:attrNameLst>
                                      </p:cBhvr>
                                      <p:to>
                                        <p:strVal val="visible"/>
                                      </p:to>
                                    </p:set>
                                    <p:animEffect transition="in" filter="fade">
                                      <p:cBhvr>
                                        <p:cTn id="35" dur="500"/>
                                        <p:tgtEl>
                                          <p:spTgt spid="102">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2">
                                            <p:txEl>
                                              <p:pRg st="6" end="6"/>
                                            </p:txEl>
                                          </p:spTgt>
                                        </p:tgtEl>
                                        <p:attrNameLst>
                                          <p:attrName>style.visibility</p:attrName>
                                        </p:attrNameLst>
                                      </p:cBhvr>
                                      <p:to>
                                        <p:strVal val="visible"/>
                                      </p:to>
                                    </p:set>
                                    <p:animEffect transition="in" filter="fade">
                                      <p:cBhvr>
                                        <p:cTn id="40" dur="500"/>
                                        <p:tgtEl>
                                          <p:spTgt spid="102">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02">
                                            <p:txEl>
                                              <p:pRg st="7" end="7"/>
                                            </p:txEl>
                                          </p:spTgt>
                                        </p:tgtEl>
                                        <p:attrNameLst>
                                          <p:attrName>style.visibility</p:attrName>
                                        </p:attrNameLst>
                                      </p:cBhvr>
                                      <p:to>
                                        <p:strVal val="visible"/>
                                      </p:to>
                                    </p:set>
                                    <p:animEffect transition="in" filter="fade">
                                      <p:cBhvr>
                                        <p:cTn id="45" dur="500"/>
                                        <p:tgtEl>
                                          <p:spTgt spid="10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xfrm>
            <a:off x="220048" y="1649337"/>
            <a:ext cx="4045200" cy="131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latin typeface="Trebuchet MS"/>
                <a:ea typeface="Trebuchet MS"/>
                <a:cs typeface="Trebuchet MS"/>
                <a:sym typeface="Trebuchet MS"/>
              </a:rPr>
              <a:t>Text Analytics Software</a:t>
            </a:r>
            <a:endParaRPr dirty="0">
              <a:latin typeface="Trebuchet MS"/>
              <a:ea typeface="Trebuchet MS"/>
              <a:cs typeface="Trebuchet MS"/>
              <a:sym typeface="Trebuchet MS"/>
            </a:endParaRPr>
          </a:p>
        </p:txBody>
      </p:sp>
      <p:sp>
        <p:nvSpPr>
          <p:cNvPr id="6" name="Google Shape;101;p18">
            <a:extLst>
              <a:ext uri="{FF2B5EF4-FFF2-40B4-BE49-F238E27FC236}">
                <a16:creationId xmlns:a16="http://schemas.microsoft.com/office/drawing/2014/main" id="{28A1F85D-8EE3-464A-9C16-998F5D58A405}"/>
              </a:ext>
            </a:extLst>
          </p:cNvPr>
          <p:cNvSpPr txBox="1">
            <a:spLocks/>
          </p:cNvSpPr>
          <p:nvPr/>
        </p:nvSpPr>
        <p:spPr>
          <a:xfrm>
            <a:off x="5057775" y="1213450"/>
            <a:ext cx="3369075" cy="63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1pPr>
            <a:lvl2pPr marR="0" lvl="1"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2pPr>
            <a:lvl3pPr marR="0" lvl="2"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3pPr>
            <a:lvl4pPr marR="0" lvl="3"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4pPr>
            <a:lvl5pPr marR="0" lvl="4"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5pPr>
            <a:lvl6pPr marR="0" lvl="5"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6pPr>
            <a:lvl7pPr marR="0" lvl="6"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7pPr>
            <a:lvl8pPr marR="0" lvl="7"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8pPr>
            <a:lvl9pPr marR="0" lvl="8"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9pPr>
          </a:lstStyle>
          <a:p>
            <a:pPr marL="190500" algn="l">
              <a:lnSpc>
                <a:spcPct val="120000"/>
              </a:lnSpc>
              <a:spcAft>
                <a:spcPts val="500"/>
              </a:spcAft>
            </a:pPr>
            <a:r>
              <a:rPr lang="en-US" sz="2350" dirty="0">
                <a:solidFill>
                  <a:srgbClr val="232C39"/>
                </a:solidFill>
                <a:highlight>
                  <a:srgbClr val="FFFFFF"/>
                </a:highlight>
                <a:latin typeface="Trebuchet MS"/>
                <a:ea typeface="Trebuchet MS"/>
                <a:cs typeface="Trebuchet MS"/>
                <a:sym typeface="Trebuchet MS"/>
              </a:rPr>
              <a:t>Amazon </a:t>
            </a:r>
            <a:r>
              <a:rPr lang="en-US" sz="2350" dirty="0">
                <a:solidFill>
                  <a:schemeClr val="tx1"/>
                </a:solidFill>
                <a:highlight>
                  <a:srgbClr val="FFFFFF"/>
                </a:highlight>
                <a:latin typeface="Trebuchet MS"/>
                <a:ea typeface="Trebuchet MS"/>
                <a:cs typeface="Trebuchet MS"/>
                <a:sym typeface="Trebuchet MS"/>
              </a:rPr>
              <a:t>Comprehend</a:t>
            </a:r>
          </a:p>
        </p:txBody>
      </p:sp>
      <p:sp>
        <p:nvSpPr>
          <p:cNvPr id="7" name="Google Shape;101;p18">
            <a:extLst>
              <a:ext uri="{FF2B5EF4-FFF2-40B4-BE49-F238E27FC236}">
                <a16:creationId xmlns:a16="http://schemas.microsoft.com/office/drawing/2014/main" id="{E37C7431-65FA-4597-ADDC-BA604FA082BA}"/>
              </a:ext>
            </a:extLst>
          </p:cNvPr>
          <p:cNvSpPr txBox="1">
            <a:spLocks/>
          </p:cNvSpPr>
          <p:nvPr/>
        </p:nvSpPr>
        <p:spPr>
          <a:xfrm>
            <a:off x="5059245" y="1673037"/>
            <a:ext cx="3096661" cy="63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1pPr>
            <a:lvl2pPr marR="0" lvl="1"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2pPr>
            <a:lvl3pPr marR="0" lvl="2"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3pPr>
            <a:lvl4pPr marR="0" lvl="3"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4pPr>
            <a:lvl5pPr marR="0" lvl="4"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5pPr>
            <a:lvl6pPr marR="0" lvl="5"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6pPr>
            <a:lvl7pPr marR="0" lvl="6"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7pPr>
            <a:lvl8pPr marR="0" lvl="7"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8pPr>
            <a:lvl9pPr marR="0" lvl="8"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9pPr>
          </a:lstStyle>
          <a:p>
            <a:pPr marL="190500" algn="l">
              <a:lnSpc>
                <a:spcPct val="120000"/>
              </a:lnSpc>
              <a:spcAft>
                <a:spcPts val="500"/>
              </a:spcAft>
            </a:pPr>
            <a:r>
              <a:rPr lang="en-US" sz="2350" dirty="0">
                <a:solidFill>
                  <a:srgbClr val="232C39"/>
                </a:solidFill>
                <a:highlight>
                  <a:srgbClr val="FFFFFF"/>
                </a:highlight>
                <a:latin typeface="Trebuchet MS"/>
                <a:ea typeface="Trebuchet MS"/>
                <a:cs typeface="Trebuchet MS"/>
                <a:sym typeface="Trebuchet MS"/>
              </a:rPr>
              <a:t>IBM </a:t>
            </a:r>
            <a:r>
              <a:rPr lang="en-US" sz="2350" dirty="0">
                <a:solidFill>
                  <a:schemeClr val="tx1"/>
                </a:solidFill>
                <a:highlight>
                  <a:srgbClr val="FFFFFF"/>
                </a:highlight>
                <a:latin typeface="Trebuchet MS"/>
                <a:ea typeface="Trebuchet MS"/>
                <a:cs typeface="Trebuchet MS"/>
                <a:sym typeface="Trebuchet MS"/>
              </a:rPr>
              <a:t>Watson</a:t>
            </a:r>
          </a:p>
        </p:txBody>
      </p:sp>
      <p:sp>
        <p:nvSpPr>
          <p:cNvPr id="8" name="Google Shape;101;p18">
            <a:extLst>
              <a:ext uri="{FF2B5EF4-FFF2-40B4-BE49-F238E27FC236}">
                <a16:creationId xmlns:a16="http://schemas.microsoft.com/office/drawing/2014/main" id="{E8C396F3-C5A0-4C9F-8512-BD6FE4F121B3}"/>
              </a:ext>
            </a:extLst>
          </p:cNvPr>
          <p:cNvSpPr txBox="1">
            <a:spLocks/>
          </p:cNvSpPr>
          <p:nvPr/>
        </p:nvSpPr>
        <p:spPr>
          <a:xfrm>
            <a:off x="5057775" y="2101018"/>
            <a:ext cx="3371900" cy="6117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1pPr>
            <a:lvl2pPr marR="0" lvl="1"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2pPr>
            <a:lvl3pPr marR="0" lvl="2"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3pPr>
            <a:lvl4pPr marR="0" lvl="3"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4pPr>
            <a:lvl5pPr marR="0" lvl="4"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5pPr>
            <a:lvl6pPr marR="0" lvl="5"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6pPr>
            <a:lvl7pPr marR="0" lvl="6"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7pPr>
            <a:lvl8pPr marR="0" lvl="7"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8pPr>
            <a:lvl9pPr marR="0" lvl="8" algn="ctr" rtl="0">
              <a:lnSpc>
                <a:spcPct val="100000"/>
              </a:lnSpc>
              <a:spcBef>
                <a:spcPts val="0"/>
              </a:spcBef>
              <a:spcAft>
                <a:spcPts val="0"/>
              </a:spcAft>
              <a:buClr>
                <a:schemeClr val="dk1"/>
              </a:buClr>
              <a:buSzPts val="3600"/>
              <a:buFont typeface="Raleway"/>
              <a:buNone/>
              <a:defRPr sz="3600" b="1" i="0" u="none" strike="noStrike" cap="none">
                <a:solidFill>
                  <a:schemeClr val="dk1"/>
                </a:solidFill>
                <a:latin typeface="Raleway"/>
                <a:ea typeface="Raleway"/>
                <a:cs typeface="Raleway"/>
                <a:sym typeface="Raleway"/>
              </a:defRPr>
            </a:lvl9pPr>
          </a:lstStyle>
          <a:p>
            <a:pPr marL="190500" algn="l">
              <a:lnSpc>
                <a:spcPct val="120000"/>
              </a:lnSpc>
              <a:spcAft>
                <a:spcPts val="500"/>
              </a:spcAft>
            </a:pPr>
            <a:r>
              <a:rPr lang="en-US" sz="2350" dirty="0">
                <a:solidFill>
                  <a:srgbClr val="232C39"/>
                </a:solidFill>
                <a:highlight>
                  <a:srgbClr val="FFFFFF"/>
                </a:highlight>
                <a:latin typeface="Trebuchet MS"/>
                <a:ea typeface="Trebuchet MS"/>
                <a:cs typeface="Trebuchet MS"/>
                <a:sym typeface="Trebuchet MS"/>
              </a:rPr>
              <a:t>Google Cloud Natural Language </a:t>
            </a:r>
            <a:r>
              <a:rPr lang="en-US" sz="2350" dirty="0">
                <a:solidFill>
                  <a:schemeClr val="tx1"/>
                </a:solidFill>
                <a:highlight>
                  <a:srgbClr val="FFFFFF"/>
                </a:highlight>
                <a:latin typeface="Trebuchet MS"/>
                <a:ea typeface="Trebuchet MS"/>
                <a:cs typeface="Trebuchet MS"/>
                <a:sym typeface="Trebuchet MS"/>
              </a:rPr>
              <a:t>API</a:t>
            </a:r>
          </a:p>
        </p:txBody>
      </p:sp>
      <p:sp>
        <p:nvSpPr>
          <p:cNvPr id="10" name="TextBox 9">
            <a:extLst>
              <a:ext uri="{FF2B5EF4-FFF2-40B4-BE49-F238E27FC236}">
                <a16:creationId xmlns:a16="http://schemas.microsoft.com/office/drawing/2014/main" id="{1C7D68D1-02C2-43B6-A067-405E238ADCBF}"/>
              </a:ext>
            </a:extLst>
          </p:cNvPr>
          <p:cNvSpPr txBox="1"/>
          <p:nvPr/>
        </p:nvSpPr>
        <p:spPr>
          <a:xfrm>
            <a:off x="5237362" y="3049976"/>
            <a:ext cx="3009900" cy="815608"/>
          </a:xfrm>
          <a:prstGeom prst="rect">
            <a:avLst/>
          </a:prstGeom>
          <a:noFill/>
        </p:spPr>
        <p:txBody>
          <a:bodyPr wrap="square">
            <a:spAutoFit/>
          </a:bodyPr>
          <a:lstStyle/>
          <a:p>
            <a:r>
              <a:rPr lang="en-US" sz="2350" b="1" dirty="0">
                <a:solidFill>
                  <a:srgbClr val="232C39"/>
                </a:solidFill>
                <a:highlight>
                  <a:srgbClr val="FFFFFF"/>
                </a:highlight>
                <a:latin typeface="Trebuchet MS"/>
                <a:ea typeface="Trebuchet MS"/>
                <a:cs typeface="Trebuchet MS"/>
                <a:sym typeface="Trebuchet MS"/>
              </a:rPr>
              <a:t>Microsoft Azure Text Analytics </a:t>
            </a:r>
            <a:r>
              <a:rPr lang="en-US" sz="2350" b="1" dirty="0">
                <a:solidFill>
                  <a:schemeClr val="tx1"/>
                </a:solidFill>
                <a:highlight>
                  <a:srgbClr val="FFFFFF"/>
                </a:highlight>
                <a:latin typeface="Trebuchet MS"/>
                <a:ea typeface="Trebuchet MS"/>
                <a:cs typeface="Trebuchet MS"/>
                <a:sym typeface="Trebuchet MS"/>
              </a:rPr>
              <a:t>API</a:t>
            </a:r>
            <a:endParaRPr lang="en-US" sz="2350" b="1" dirty="0"/>
          </a:p>
        </p:txBody>
      </p:sp>
      <p:sp>
        <p:nvSpPr>
          <p:cNvPr id="12" name="Google Shape;79;p14">
            <a:extLst>
              <a:ext uri="{FF2B5EF4-FFF2-40B4-BE49-F238E27FC236}">
                <a16:creationId xmlns:a16="http://schemas.microsoft.com/office/drawing/2014/main" id="{40EB8595-DE4F-49F0-BC65-5EE8703526B6}"/>
              </a:ext>
            </a:extLst>
          </p:cNvPr>
          <p:cNvSpPr txBox="1">
            <a:spLocks/>
          </p:cNvSpPr>
          <p:nvPr/>
        </p:nvSpPr>
        <p:spPr>
          <a:xfrm>
            <a:off x="5057775" y="481566"/>
            <a:ext cx="4253513" cy="365374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Lato"/>
              <a:buChar char="●"/>
              <a:defRPr sz="1800" b="0" i="0" u="none" strike="noStrike" cap="none">
                <a:solidFill>
                  <a:schemeClr val="lt1"/>
                </a:solidFill>
                <a:latin typeface="Lato"/>
                <a:ea typeface="Lato"/>
                <a:cs typeface="Lato"/>
                <a:sym typeface="Lato"/>
              </a:defRPr>
            </a:lvl1pPr>
            <a:lvl2pPr marL="914400" marR="0" lvl="1" indent="-317500" algn="l" rtl="0">
              <a:lnSpc>
                <a:spcPct val="115000"/>
              </a:lnSpc>
              <a:spcBef>
                <a:spcPts val="1600"/>
              </a:spcBef>
              <a:spcAft>
                <a:spcPts val="0"/>
              </a:spcAft>
              <a:buClr>
                <a:schemeClr val="lt1"/>
              </a:buClr>
              <a:buSzPts val="1400"/>
              <a:buFont typeface="Lato"/>
              <a:buChar char="○"/>
              <a:defRPr sz="1400" b="0" i="0" u="none" strike="noStrike" cap="none">
                <a:solidFill>
                  <a:schemeClr val="lt1"/>
                </a:solidFill>
                <a:latin typeface="Lato"/>
                <a:ea typeface="Lato"/>
                <a:cs typeface="Lato"/>
                <a:sym typeface="Lato"/>
              </a:defRPr>
            </a:lvl2pPr>
            <a:lvl3pPr marL="1371600" marR="0" lvl="2" indent="-317500" algn="l" rtl="0">
              <a:lnSpc>
                <a:spcPct val="115000"/>
              </a:lnSpc>
              <a:spcBef>
                <a:spcPts val="1600"/>
              </a:spcBef>
              <a:spcAft>
                <a:spcPts val="0"/>
              </a:spcAft>
              <a:buClr>
                <a:schemeClr val="lt1"/>
              </a:buClr>
              <a:buSzPts val="1400"/>
              <a:buFont typeface="Lato"/>
              <a:buChar char="■"/>
              <a:defRPr sz="1400" b="0" i="0" u="none" strike="noStrike" cap="none">
                <a:solidFill>
                  <a:schemeClr val="lt1"/>
                </a:solidFill>
                <a:latin typeface="Lato"/>
                <a:ea typeface="Lato"/>
                <a:cs typeface="Lato"/>
                <a:sym typeface="Lato"/>
              </a:defRPr>
            </a:lvl3pPr>
            <a:lvl4pPr marL="1828800" marR="0" lvl="3" indent="-317500" algn="l" rtl="0">
              <a:lnSpc>
                <a:spcPct val="115000"/>
              </a:lnSpc>
              <a:spcBef>
                <a:spcPts val="1600"/>
              </a:spcBef>
              <a:spcAft>
                <a:spcPts val="0"/>
              </a:spcAft>
              <a:buClr>
                <a:schemeClr val="lt1"/>
              </a:buClr>
              <a:buSzPts val="1400"/>
              <a:buFont typeface="Lato"/>
              <a:buChar char="●"/>
              <a:defRPr sz="1400" b="0" i="0" u="none" strike="noStrike" cap="none">
                <a:solidFill>
                  <a:schemeClr val="lt1"/>
                </a:solidFill>
                <a:latin typeface="Lato"/>
                <a:ea typeface="Lato"/>
                <a:cs typeface="Lato"/>
                <a:sym typeface="Lato"/>
              </a:defRPr>
            </a:lvl4pPr>
            <a:lvl5pPr marL="2286000" marR="0" lvl="4" indent="-317500" algn="l" rtl="0">
              <a:lnSpc>
                <a:spcPct val="115000"/>
              </a:lnSpc>
              <a:spcBef>
                <a:spcPts val="1600"/>
              </a:spcBef>
              <a:spcAft>
                <a:spcPts val="0"/>
              </a:spcAft>
              <a:buClr>
                <a:schemeClr val="lt1"/>
              </a:buClr>
              <a:buSzPts val="1400"/>
              <a:buFont typeface="Lato"/>
              <a:buChar char="○"/>
              <a:defRPr sz="1400" b="0" i="0" u="none" strike="noStrike" cap="none">
                <a:solidFill>
                  <a:schemeClr val="lt1"/>
                </a:solidFill>
                <a:latin typeface="Lato"/>
                <a:ea typeface="Lato"/>
                <a:cs typeface="Lato"/>
                <a:sym typeface="Lato"/>
              </a:defRPr>
            </a:lvl5pPr>
            <a:lvl6pPr marL="2743200" marR="0" lvl="5" indent="-317500" algn="l" rtl="0">
              <a:lnSpc>
                <a:spcPct val="115000"/>
              </a:lnSpc>
              <a:spcBef>
                <a:spcPts val="1600"/>
              </a:spcBef>
              <a:spcAft>
                <a:spcPts val="0"/>
              </a:spcAft>
              <a:buClr>
                <a:schemeClr val="lt1"/>
              </a:buClr>
              <a:buSzPts val="1400"/>
              <a:buFont typeface="Lato"/>
              <a:buChar char="■"/>
              <a:defRPr sz="1400" b="0" i="0" u="none" strike="noStrike" cap="none">
                <a:solidFill>
                  <a:schemeClr val="lt1"/>
                </a:solidFill>
                <a:latin typeface="Lato"/>
                <a:ea typeface="Lato"/>
                <a:cs typeface="Lato"/>
                <a:sym typeface="Lato"/>
              </a:defRPr>
            </a:lvl6pPr>
            <a:lvl7pPr marL="3200400" marR="0" lvl="6" indent="-317500" algn="l" rtl="0">
              <a:lnSpc>
                <a:spcPct val="115000"/>
              </a:lnSpc>
              <a:spcBef>
                <a:spcPts val="1600"/>
              </a:spcBef>
              <a:spcAft>
                <a:spcPts val="0"/>
              </a:spcAft>
              <a:buClr>
                <a:schemeClr val="lt1"/>
              </a:buClr>
              <a:buSzPts val="1400"/>
              <a:buFont typeface="Lato"/>
              <a:buChar char="●"/>
              <a:defRPr sz="1400" b="0" i="0" u="none" strike="noStrike" cap="none">
                <a:solidFill>
                  <a:schemeClr val="lt1"/>
                </a:solidFill>
                <a:latin typeface="Lato"/>
                <a:ea typeface="Lato"/>
                <a:cs typeface="Lato"/>
                <a:sym typeface="Lato"/>
              </a:defRPr>
            </a:lvl7pPr>
            <a:lvl8pPr marL="3657600" marR="0" lvl="7" indent="-317500" algn="l" rtl="0">
              <a:lnSpc>
                <a:spcPct val="115000"/>
              </a:lnSpc>
              <a:spcBef>
                <a:spcPts val="1600"/>
              </a:spcBef>
              <a:spcAft>
                <a:spcPts val="0"/>
              </a:spcAft>
              <a:buClr>
                <a:schemeClr val="lt1"/>
              </a:buClr>
              <a:buSzPts val="1400"/>
              <a:buFont typeface="Lato"/>
              <a:buChar char="○"/>
              <a:defRPr sz="1400" b="0" i="0" u="none" strike="noStrike" cap="none">
                <a:solidFill>
                  <a:schemeClr val="lt1"/>
                </a:solidFill>
                <a:latin typeface="Lato"/>
                <a:ea typeface="Lato"/>
                <a:cs typeface="Lato"/>
                <a:sym typeface="Lato"/>
              </a:defRPr>
            </a:lvl8pPr>
            <a:lvl9pPr marL="4114800" marR="0" lvl="8" indent="-317500" algn="l" rtl="0">
              <a:lnSpc>
                <a:spcPct val="115000"/>
              </a:lnSpc>
              <a:spcBef>
                <a:spcPts val="1600"/>
              </a:spcBef>
              <a:spcAft>
                <a:spcPts val="1600"/>
              </a:spcAft>
              <a:buClr>
                <a:schemeClr val="lt1"/>
              </a:buClr>
              <a:buSzPts val="1400"/>
              <a:buFont typeface="Lato"/>
              <a:buChar char="■"/>
              <a:defRPr sz="1400" b="0" i="0" u="none" strike="noStrike" cap="none">
                <a:solidFill>
                  <a:schemeClr val="lt1"/>
                </a:solidFill>
                <a:latin typeface="Lato"/>
                <a:ea typeface="Lato"/>
                <a:cs typeface="Lato"/>
                <a:sym typeface="Lato"/>
              </a:defRPr>
            </a:lvl9pPr>
          </a:lstStyle>
          <a:p>
            <a:pPr marL="0" indent="0">
              <a:spcAft>
                <a:spcPts val="1200"/>
              </a:spcAft>
              <a:buFont typeface="Lato"/>
              <a:buNone/>
            </a:pPr>
            <a:r>
              <a:rPr lang="en-US" b="1" dirty="0">
                <a:solidFill>
                  <a:schemeClr val="bg1"/>
                </a:solidFill>
                <a:latin typeface="Roboto" panose="020B0604020202020204" charset="0"/>
                <a:ea typeface="Roboto" panose="020B0604020202020204" charset="0"/>
                <a:cs typeface="Roboto"/>
                <a:sym typeface="Roboto"/>
              </a:rPr>
              <a:t>Cloud Source</a:t>
            </a:r>
          </a:p>
          <a:p>
            <a:pPr marL="285750" indent="-285750">
              <a:spcAft>
                <a:spcPts val="1200"/>
              </a:spcAft>
            </a:pPr>
            <a:r>
              <a:rPr lang="en-US" sz="1600" dirty="0">
                <a:solidFill>
                  <a:schemeClr val="bg1"/>
                </a:solidFill>
                <a:latin typeface="Roboto" panose="020B0604020202020204" charset="0"/>
                <a:ea typeface="Roboto" panose="020B0604020202020204" charset="0"/>
                <a:cs typeface="Roboto"/>
                <a:sym typeface="Roboto"/>
              </a:rPr>
              <a:t>  </a:t>
            </a:r>
          </a:p>
          <a:p>
            <a:pPr marL="285750" indent="-285750">
              <a:spcAft>
                <a:spcPts val="1200"/>
              </a:spcAft>
            </a:pPr>
            <a:r>
              <a:rPr lang="en-US" sz="1600" dirty="0">
                <a:solidFill>
                  <a:schemeClr val="bg1"/>
                </a:solidFill>
                <a:latin typeface="Roboto" panose="020B0604020202020204" charset="0"/>
                <a:ea typeface="Roboto" panose="020B0604020202020204" charset="0"/>
              </a:rPr>
              <a:t> </a:t>
            </a:r>
          </a:p>
          <a:p>
            <a:pPr marL="285750" indent="-285750">
              <a:spcAft>
                <a:spcPts val="1200"/>
              </a:spcAft>
            </a:pPr>
            <a:r>
              <a:rPr lang="en-US" sz="1600" dirty="0">
                <a:solidFill>
                  <a:schemeClr val="bg1"/>
                </a:solidFill>
                <a:latin typeface="Roboto" panose="020B0604020202020204" charset="0"/>
                <a:ea typeface="Roboto" panose="020B0604020202020204" charset="0"/>
                <a:cs typeface="Trebuchet MS"/>
                <a:sym typeface="Trebuchet MS"/>
              </a:rPr>
              <a:t> </a:t>
            </a:r>
          </a:p>
          <a:p>
            <a:pPr marL="285750" indent="-285750">
              <a:spcAft>
                <a:spcPts val="1200"/>
              </a:spcAft>
            </a:pPr>
            <a:endParaRPr lang="en-US" sz="1600" dirty="0">
              <a:solidFill>
                <a:schemeClr val="bg1"/>
              </a:solidFill>
              <a:latin typeface="Trebuchet MS"/>
              <a:ea typeface="Trebuchet MS"/>
              <a:cs typeface="Trebuchet MS"/>
              <a:sym typeface="Trebuchet MS"/>
            </a:endParaRPr>
          </a:p>
          <a:p>
            <a:pPr marL="285750" indent="-285750">
              <a:spcAft>
                <a:spcPts val="1200"/>
              </a:spcAft>
            </a:pPr>
            <a:r>
              <a:rPr lang="en-US" sz="1600" dirty="0">
                <a:solidFill>
                  <a:schemeClr val="bg1"/>
                </a:solidFill>
                <a:latin typeface="Trebuchet MS"/>
                <a:ea typeface="Trebuchet MS"/>
                <a:cs typeface="Trebuchet MS"/>
                <a:sym typeface="Trebuchet MS"/>
              </a:rPr>
              <a:t> </a:t>
            </a:r>
            <a:endParaRPr lang="en-US" sz="1600" dirty="0">
              <a:solidFill>
                <a:schemeClr val="bg1"/>
              </a:solidFill>
              <a:latin typeface="Roboto" panose="020B0604020202020204" charset="0"/>
              <a:ea typeface="Roboto" panose="020B0604020202020204" charset="0"/>
              <a:cs typeface="Trebuchet MS"/>
              <a:sym typeface="Trebuchet MS"/>
            </a:endParaRPr>
          </a:p>
        </p:txBody>
      </p:sp>
    </p:spTree>
    <p:extLst>
      <p:ext uri="{BB962C8B-B14F-4D97-AF65-F5344CB8AC3E}">
        <p14:creationId xmlns:p14="http://schemas.microsoft.com/office/powerpoint/2010/main" val="1916311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500"/>
                                        <p:tgtEl>
                                          <p:spTgt spid="7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6" grpId="0"/>
      <p:bldP spid="7" grpId="0"/>
      <p:bldP spid="8" grpId="0"/>
      <p:bldP spid="10" grpId="0"/>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p>
            <a:pPr marL="190500" algn="l">
              <a:lnSpc>
                <a:spcPct val="120000"/>
              </a:lnSpc>
              <a:spcAft>
                <a:spcPts val="500"/>
              </a:spcAft>
            </a:pPr>
            <a:r>
              <a:rPr lang="en-US" sz="2350" dirty="0">
                <a:solidFill>
                  <a:srgbClr val="232C39"/>
                </a:solidFill>
                <a:highlight>
                  <a:srgbClr val="FFFFFF"/>
                </a:highlight>
                <a:latin typeface="Trebuchet MS"/>
                <a:ea typeface="Trebuchet MS"/>
                <a:cs typeface="Trebuchet MS"/>
                <a:sym typeface="Trebuchet MS"/>
              </a:rPr>
              <a:t>Amazon </a:t>
            </a:r>
            <a:r>
              <a:rPr lang="en-US" sz="2350" dirty="0">
                <a:solidFill>
                  <a:schemeClr val="tx1"/>
                </a:solidFill>
                <a:highlight>
                  <a:srgbClr val="FFFFFF"/>
                </a:highlight>
                <a:latin typeface="Trebuchet MS"/>
                <a:ea typeface="Trebuchet MS"/>
                <a:cs typeface="Trebuchet MS"/>
                <a:sym typeface="Trebuchet MS"/>
              </a:rPr>
              <a:t>Comprehend</a:t>
            </a:r>
          </a:p>
        </p:txBody>
      </p:sp>
      <p:sp>
        <p:nvSpPr>
          <p:cNvPr id="102" name="Google Shape;102;p18"/>
          <p:cNvSpPr txBox="1">
            <a:spLocks noGrp="1"/>
          </p:cNvSpPr>
          <p:nvPr>
            <p:ph type="body" idx="1"/>
          </p:nvPr>
        </p:nvSpPr>
        <p:spPr>
          <a:xfrm>
            <a:off x="2285950" y="1211350"/>
            <a:ext cx="6321600" cy="3393600"/>
          </a:xfrm>
          <a:prstGeom prst="rect">
            <a:avLst/>
          </a:prstGeom>
        </p:spPr>
        <p:txBody>
          <a:bodyPr spcFirstLastPara="1" wrap="square" lIns="91425" tIns="91425" rIns="91425" bIns="91425" anchor="t" anchorCtr="0">
            <a:noAutofit/>
          </a:bodyPr>
          <a:lstStyle/>
          <a:p>
            <a:pPr marL="285750" indent="-285750"/>
            <a:r>
              <a:rPr lang="en-US" sz="1100" dirty="0">
                <a:solidFill>
                  <a:srgbClr val="666666"/>
                </a:solidFill>
                <a:latin typeface="Roboto" panose="020B0604020202020204" charset="0"/>
                <a:ea typeface="Roboto" panose="020B0604020202020204" charset="0"/>
                <a:cs typeface="Trebuchet MS"/>
                <a:sym typeface="Trebuchet MS"/>
              </a:rPr>
              <a:t>Key Phrase Extraction</a:t>
            </a:r>
          </a:p>
          <a:p>
            <a:pPr marL="285750" indent="-285750"/>
            <a:r>
              <a:rPr lang="en-US" sz="1100" dirty="0">
                <a:solidFill>
                  <a:srgbClr val="666666"/>
                </a:solidFill>
                <a:latin typeface="Roboto" panose="020B0604020202020204" charset="0"/>
                <a:ea typeface="Roboto" panose="020B0604020202020204" charset="0"/>
                <a:cs typeface="Trebuchet MS"/>
                <a:sym typeface="Trebuchet MS"/>
              </a:rPr>
              <a:t>Sentiment Analysis</a:t>
            </a:r>
          </a:p>
          <a:p>
            <a:pPr marL="285750" indent="-285750"/>
            <a:r>
              <a:rPr lang="en-US" sz="1100" dirty="0">
                <a:solidFill>
                  <a:srgbClr val="666666"/>
                </a:solidFill>
                <a:latin typeface="Roboto" panose="020B0604020202020204" charset="0"/>
                <a:ea typeface="Roboto" panose="020B0604020202020204" charset="0"/>
                <a:cs typeface="Trebuchet MS"/>
                <a:sym typeface="Trebuchet MS"/>
              </a:rPr>
              <a:t>Syntax Analysis</a:t>
            </a:r>
          </a:p>
          <a:p>
            <a:pPr marL="285750" indent="-285750"/>
            <a:r>
              <a:rPr lang="en-US" sz="1100" dirty="0">
                <a:solidFill>
                  <a:srgbClr val="666666"/>
                </a:solidFill>
                <a:latin typeface="Roboto" panose="020B0604020202020204" charset="0"/>
                <a:ea typeface="Roboto" panose="020B0604020202020204" charset="0"/>
                <a:cs typeface="Trebuchet MS"/>
                <a:sym typeface="Trebuchet MS"/>
              </a:rPr>
              <a:t>Entity Recognition</a:t>
            </a:r>
          </a:p>
          <a:p>
            <a:pPr marL="285750" indent="-285750"/>
            <a:r>
              <a:rPr lang="en-US" sz="1100" dirty="0">
                <a:solidFill>
                  <a:srgbClr val="666666"/>
                </a:solidFill>
                <a:latin typeface="Roboto" panose="020B0604020202020204" charset="0"/>
                <a:ea typeface="Roboto" panose="020B0604020202020204" charset="0"/>
                <a:cs typeface="Trebuchet MS"/>
                <a:sym typeface="Trebuchet MS"/>
              </a:rPr>
              <a:t>Comprehend Medical</a:t>
            </a:r>
            <a:br>
              <a:rPr lang="en-US" sz="1100" dirty="0">
                <a:solidFill>
                  <a:srgbClr val="666666"/>
                </a:solidFill>
                <a:latin typeface="Roboto" panose="020B0604020202020204" charset="0"/>
                <a:ea typeface="Roboto" panose="020B0604020202020204" charset="0"/>
                <a:cs typeface="Trebuchet MS"/>
                <a:sym typeface="Trebuchet MS"/>
              </a:rPr>
            </a:br>
            <a:endParaRPr lang="en-US" sz="1100" dirty="0">
              <a:solidFill>
                <a:srgbClr val="666666"/>
              </a:solidFill>
              <a:latin typeface="Roboto" panose="020B0604020202020204" charset="0"/>
              <a:ea typeface="Roboto" panose="020B0604020202020204" charset="0"/>
              <a:cs typeface="Trebuchet MS"/>
              <a:sym typeface="Trebuchet MS"/>
            </a:endParaRPr>
          </a:p>
          <a:p>
            <a:pPr marL="285750" indent="-285750"/>
            <a:r>
              <a:rPr lang="en-US" sz="1100" dirty="0">
                <a:solidFill>
                  <a:srgbClr val="666666"/>
                </a:solidFill>
                <a:latin typeface="Roboto" panose="020B0604020202020204" charset="0"/>
                <a:ea typeface="Roboto" panose="020B0604020202020204" charset="0"/>
                <a:cs typeface="Trebuchet MS"/>
                <a:sym typeface="Trebuchet MS"/>
              </a:rPr>
              <a:t>Medical Named Entity and Relationship Extraction (NERe)</a:t>
            </a:r>
            <a:br>
              <a:rPr lang="en-US" sz="1100" dirty="0">
                <a:solidFill>
                  <a:srgbClr val="666666"/>
                </a:solidFill>
                <a:latin typeface="Roboto" panose="020B0604020202020204" charset="0"/>
                <a:ea typeface="Roboto" panose="020B0604020202020204" charset="0"/>
                <a:cs typeface="Trebuchet MS"/>
                <a:sym typeface="Trebuchet MS"/>
              </a:rPr>
            </a:br>
            <a:r>
              <a:rPr lang="en-US" sz="900" dirty="0">
                <a:solidFill>
                  <a:srgbClr val="666666"/>
                </a:solidFill>
                <a:latin typeface="Roboto" panose="020B0604020202020204" charset="0"/>
                <a:ea typeface="Roboto" panose="020B0604020202020204" charset="0"/>
                <a:cs typeface="Trebuchet MS"/>
                <a:sym typeface="Trebuchet MS"/>
              </a:rPr>
              <a:t>The Medical NERe API returns the medical information such as medication, medical condition, test, treatment and procedures (TTP), anatomy, and Protected Health Information (PHI). It also identifies relationships between extracted sub-types associated to Medications and TTP. There is also contextual information provided as entity “traits” (negation, or if a diagnosis is a sign or symptom). The table below shows the extracted information with relevant sub-types and entity traits.</a:t>
            </a:r>
            <a:br>
              <a:rPr lang="en-US" sz="900" dirty="0">
                <a:solidFill>
                  <a:srgbClr val="666666"/>
                </a:solidFill>
                <a:latin typeface="Roboto" panose="020B0604020202020204" charset="0"/>
                <a:ea typeface="Roboto" panose="020B0604020202020204" charset="0"/>
                <a:cs typeface="Trebuchet MS"/>
                <a:sym typeface="Trebuchet MS"/>
              </a:rPr>
            </a:br>
            <a:endParaRPr lang="en-US" sz="900" dirty="0">
              <a:solidFill>
                <a:srgbClr val="666666"/>
              </a:solidFill>
              <a:latin typeface="Roboto" panose="020B0604020202020204" charset="0"/>
              <a:ea typeface="Roboto" panose="020B0604020202020204" charset="0"/>
              <a:cs typeface="Trebuchet MS"/>
              <a:sym typeface="Trebuchet MS"/>
            </a:endParaRPr>
          </a:p>
          <a:p>
            <a:pPr marL="285750" indent="-285750"/>
            <a:r>
              <a:rPr lang="en-US" sz="1100" dirty="0">
                <a:solidFill>
                  <a:srgbClr val="666666"/>
                </a:solidFill>
                <a:latin typeface="Roboto" panose="020B0604020202020204" charset="0"/>
                <a:ea typeface="Roboto" panose="020B0604020202020204" charset="0"/>
                <a:cs typeface="Trebuchet MS"/>
                <a:sym typeface="Trebuchet MS"/>
              </a:rPr>
              <a:t>Medical Ontology Linking</a:t>
            </a:r>
            <a:br>
              <a:rPr lang="en-US" sz="1100" dirty="0">
                <a:solidFill>
                  <a:srgbClr val="666666"/>
                </a:solidFill>
                <a:latin typeface="Roboto" panose="020B0604020202020204" charset="0"/>
                <a:ea typeface="Roboto" panose="020B0604020202020204" charset="0"/>
                <a:cs typeface="Trebuchet MS"/>
                <a:sym typeface="Trebuchet MS"/>
              </a:rPr>
            </a:br>
            <a:r>
              <a:rPr lang="en-US" sz="900" dirty="0">
                <a:solidFill>
                  <a:srgbClr val="666666"/>
                </a:solidFill>
                <a:latin typeface="Roboto" panose="020B0604020202020204" charset="0"/>
                <a:ea typeface="Roboto" panose="020B0604020202020204" charset="0"/>
                <a:cs typeface="Trebuchet MS"/>
                <a:sym typeface="Trebuchet MS"/>
              </a:rPr>
              <a:t>The Medical Ontology Linking APIs identifies medical information and links them to codes and concepts in standard medical ontologies. The Medical Ontology Linking APIs also detects contextual information as entity traits (e.g. negation).</a:t>
            </a:r>
          </a:p>
        </p:txBody>
      </p:sp>
      <p:pic>
        <p:nvPicPr>
          <p:cNvPr id="3" name="Picture 2" descr="Icon&#10;&#10;Description automatically generated">
            <a:extLst>
              <a:ext uri="{FF2B5EF4-FFF2-40B4-BE49-F238E27FC236}">
                <a16:creationId xmlns:a16="http://schemas.microsoft.com/office/drawing/2014/main" id="{B835530D-B34E-45F9-8684-E0CAC833F4A6}"/>
              </a:ext>
            </a:extLst>
          </p:cNvPr>
          <p:cNvPicPr>
            <a:picLocks noChangeAspect="1"/>
          </p:cNvPicPr>
          <p:nvPr/>
        </p:nvPicPr>
        <p:blipFill>
          <a:blip r:embed="rId3"/>
          <a:stretch>
            <a:fillRect/>
          </a:stretch>
        </p:blipFill>
        <p:spPr>
          <a:xfrm>
            <a:off x="685800" y="1933575"/>
            <a:ext cx="1276350" cy="1276350"/>
          </a:xfrm>
          <a:prstGeom prst="rect">
            <a:avLst/>
          </a:prstGeom>
        </p:spPr>
      </p:pic>
    </p:spTree>
    <p:extLst>
      <p:ext uri="{BB962C8B-B14F-4D97-AF65-F5344CB8AC3E}">
        <p14:creationId xmlns:p14="http://schemas.microsoft.com/office/powerpoint/2010/main" val="31220495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
                                            <p:txEl>
                                              <p:pRg st="0" end="0"/>
                                            </p:txEl>
                                          </p:spTgt>
                                        </p:tgtEl>
                                        <p:attrNameLst>
                                          <p:attrName>style.visibility</p:attrName>
                                        </p:attrNameLst>
                                      </p:cBhvr>
                                      <p:to>
                                        <p:strVal val="visible"/>
                                      </p:to>
                                    </p:set>
                                    <p:animEffect transition="in" filter="fade">
                                      <p:cBhvr>
                                        <p:cTn id="12" dur="500"/>
                                        <p:tgtEl>
                                          <p:spTgt spid="10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
                                            <p:txEl>
                                              <p:pRg st="1" end="1"/>
                                            </p:txEl>
                                          </p:spTgt>
                                        </p:tgtEl>
                                        <p:attrNameLst>
                                          <p:attrName>style.visibility</p:attrName>
                                        </p:attrNameLst>
                                      </p:cBhvr>
                                      <p:to>
                                        <p:strVal val="visible"/>
                                      </p:to>
                                    </p:set>
                                    <p:animEffect transition="in" filter="fade">
                                      <p:cBhvr>
                                        <p:cTn id="17" dur="500"/>
                                        <p:tgtEl>
                                          <p:spTgt spid="10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
                                            <p:txEl>
                                              <p:pRg st="2" end="2"/>
                                            </p:txEl>
                                          </p:spTgt>
                                        </p:tgtEl>
                                        <p:attrNameLst>
                                          <p:attrName>style.visibility</p:attrName>
                                        </p:attrNameLst>
                                      </p:cBhvr>
                                      <p:to>
                                        <p:strVal val="visible"/>
                                      </p:to>
                                    </p:set>
                                    <p:animEffect transition="in" filter="fade">
                                      <p:cBhvr>
                                        <p:cTn id="22" dur="500"/>
                                        <p:tgtEl>
                                          <p:spTgt spid="10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
                                            <p:txEl>
                                              <p:pRg st="3" end="3"/>
                                            </p:txEl>
                                          </p:spTgt>
                                        </p:tgtEl>
                                        <p:attrNameLst>
                                          <p:attrName>style.visibility</p:attrName>
                                        </p:attrNameLst>
                                      </p:cBhvr>
                                      <p:to>
                                        <p:strVal val="visible"/>
                                      </p:to>
                                    </p:set>
                                    <p:animEffect transition="in" filter="fade">
                                      <p:cBhvr>
                                        <p:cTn id="27" dur="500"/>
                                        <p:tgtEl>
                                          <p:spTgt spid="10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2">
                                            <p:txEl>
                                              <p:pRg st="4" end="4"/>
                                            </p:txEl>
                                          </p:spTgt>
                                        </p:tgtEl>
                                        <p:attrNameLst>
                                          <p:attrName>style.visibility</p:attrName>
                                        </p:attrNameLst>
                                      </p:cBhvr>
                                      <p:to>
                                        <p:strVal val="visible"/>
                                      </p:to>
                                    </p:set>
                                    <p:animEffect transition="in" filter="fade">
                                      <p:cBhvr>
                                        <p:cTn id="32" dur="500"/>
                                        <p:tgtEl>
                                          <p:spTgt spid="10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2">
                                            <p:txEl>
                                              <p:pRg st="5" end="5"/>
                                            </p:txEl>
                                          </p:spTgt>
                                        </p:tgtEl>
                                        <p:attrNameLst>
                                          <p:attrName>style.visibility</p:attrName>
                                        </p:attrNameLst>
                                      </p:cBhvr>
                                      <p:to>
                                        <p:strVal val="visible"/>
                                      </p:to>
                                    </p:set>
                                    <p:animEffect transition="in" filter="fade">
                                      <p:cBhvr>
                                        <p:cTn id="37" dur="500"/>
                                        <p:tgtEl>
                                          <p:spTgt spid="10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2">
                                            <p:txEl>
                                              <p:pRg st="6" end="6"/>
                                            </p:txEl>
                                          </p:spTgt>
                                        </p:tgtEl>
                                        <p:attrNameLst>
                                          <p:attrName>style.visibility</p:attrName>
                                        </p:attrNameLst>
                                      </p:cBhvr>
                                      <p:to>
                                        <p:strVal val="visible"/>
                                      </p:to>
                                    </p:set>
                                    <p:animEffect transition="in" filter="fade">
                                      <p:cBhvr>
                                        <p:cTn id="42" dur="500"/>
                                        <p:tgtEl>
                                          <p:spTgt spid="10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p>
            <a:pPr marL="190500" algn="l">
              <a:lnSpc>
                <a:spcPct val="120000"/>
              </a:lnSpc>
              <a:spcAft>
                <a:spcPts val="500"/>
              </a:spcAft>
            </a:pPr>
            <a:r>
              <a:rPr lang="en-US" sz="2350" dirty="0">
                <a:solidFill>
                  <a:srgbClr val="232C39"/>
                </a:solidFill>
                <a:highlight>
                  <a:srgbClr val="FFFFFF"/>
                </a:highlight>
                <a:latin typeface="Trebuchet MS"/>
                <a:ea typeface="Trebuchet MS"/>
                <a:cs typeface="Trebuchet MS"/>
                <a:sym typeface="Trebuchet MS"/>
              </a:rPr>
              <a:t>Amazon </a:t>
            </a:r>
            <a:r>
              <a:rPr lang="en-US" sz="2350" dirty="0">
                <a:solidFill>
                  <a:schemeClr val="tx1"/>
                </a:solidFill>
                <a:highlight>
                  <a:srgbClr val="FFFFFF"/>
                </a:highlight>
                <a:latin typeface="Trebuchet MS"/>
                <a:ea typeface="Trebuchet MS"/>
                <a:cs typeface="Trebuchet MS"/>
                <a:sym typeface="Trebuchet MS"/>
              </a:rPr>
              <a:t>Comprehend</a:t>
            </a:r>
          </a:p>
        </p:txBody>
      </p:sp>
      <p:sp>
        <p:nvSpPr>
          <p:cNvPr id="102" name="Google Shape;102;p18"/>
          <p:cNvSpPr txBox="1">
            <a:spLocks noGrp="1"/>
          </p:cNvSpPr>
          <p:nvPr>
            <p:ph type="body" idx="1"/>
          </p:nvPr>
        </p:nvSpPr>
        <p:spPr>
          <a:xfrm>
            <a:off x="2257375" y="1211350"/>
            <a:ext cx="6321600" cy="3393600"/>
          </a:xfrm>
          <a:prstGeom prst="rect">
            <a:avLst/>
          </a:prstGeom>
        </p:spPr>
        <p:txBody>
          <a:bodyPr spcFirstLastPara="1" wrap="square" lIns="91425" tIns="91425" rIns="91425" bIns="91425" anchor="t" anchorCtr="0">
            <a:noAutofit/>
          </a:bodyPr>
          <a:lstStyle/>
          <a:p>
            <a:pPr marL="285750" indent="-285750"/>
            <a:r>
              <a:rPr lang="en-US" sz="1050" dirty="0">
                <a:solidFill>
                  <a:srgbClr val="666666"/>
                </a:solidFill>
                <a:latin typeface="Roboto" panose="020B0604020202020204" charset="0"/>
                <a:ea typeface="Roboto" panose="020B0604020202020204" charset="0"/>
                <a:cs typeface="Trebuchet MS"/>
                <a:sym typeface="Trebuchet MS"/>
              </a:rPr>
              <a:t>Custom Entities</a:t>
            </a:r>
            <a:br>
              <a:rPr lang="en-US" sz="1050" dirty="0">
                <a:solidFill>
                  <a:srgbClr val="666666"/>
                </a:solidFill>
                <a:latin typeface="Roboto" panose="020B0604020202020204" charset="0"/>
                <a:ea typeface="Roboto" panose="020B0604020202020204" charset="0"/>
                <a:cs typeface="Trebuchet MS"/>
                <a:sym typeface="Trebuchet MS"/>
              </a:rPr>
            </a:br>
            <a:r>
              <a:rPr lang="en-US" sz="900" dirty="0">
                <a:solidFill>
                  <a:srgbClr val="666666"/>
                </a:solidFill>
                <a:latin typeface="Roboto" panose="020B0604020202020204" charset="0"/>
                <a:ea typeface="Roboto" panose="020B0604020202020204" charset="0"/>
                <a:cs typeface="Trebuchet MS"/>
                <a:sym typeface="Trebuchet MS"/>
              </a:rPr>
              <a:t>Custom Entities allows you to customize Amazon Comprehend to identify terms that are specific to your domain. Using AutoML, Comprehend will learn from a small private index of examples (for example, a list of policy numbers and text in which they are used), and then train a private, custom model to recognize these terms in any other block of text. There are no servers to manage, and no algorithms to master.</a:t>
            </a:r>
            <a:br>
              <a:rPr lang="en-US" sz="900" dirty="0">
                <a:solidFill>
                  <a:srgbClr val="666666"/>
                </a:solidFill>
                <a:latin typeface="Roboto" panose="020B0604020202020204" charset="0"/>
                <a:ea typeface="Roboto" panose="020B0604020202020204" charset="0"/>
                <a:cs typeface="Trebuchet MS"/>
                <a:sym typeface="Trebuchet MS"/>
              </a:rPr>
            </a:br>
            <a:endParaRPr lang="en-US" sz="900" dirty="0">
              <a:solidFill>
                <a:srgbClr val="666666"/>
              </a:solidFill>
              <a:latin typeface="Roboto" panose="020B0604020202020204" charset="0"/>
              <a:ea typeface="Roboto" panose="020B0604020202020204" charset="0"/>
              <a:cs typeface="Trebuchet MS"/>
              <a:sym typeface="Trebuchet MS"/>
            </a:endParaRPr>
          </a:p>
          <a:p>
            <a:pPr marL="285750" indent="-285750"/>
            <a:r>
              <a:rPr lang="en-US" sz="1050" dirty="0">
                <a:solidFill>
                  <a:srgbClr val="666666"/>
                </a:solidFill>
                <a:latin typeface="Roboto" panose="020B0604020202020204" charset="0"/>
                <a:ea typeface="Roboto" panose="020B0604020202020204" charset="0"/>
                <a:cs typeface="Trebuchet MS"/>
                <a:sym typeface="Trebuchet MS"/>
              </a:rPr>
              <a:t>Language Detection – Over 100 languages and returns the dominant language with a confidence score to support that a language is dominant.</a:t>
            </a:r>
            <a:br>
              <a:rPr lang="en-US" sz="1050" dirty="0">
                <a:solidFill>
                  <a:srgbClr val="666666"/>
                </a:solidFill>
                <a:latin typeface="Roboto" panose="020B0604020202020204" charset="0"/>
                <a:ea typeface="Roboto" panose="020B0604020202020204" charset="0"/>
                <a:cs typeface="Trebuchet MS"/>
                <a:sym typeface="Trebuchet MS"/>
              </a:rPr>
            </a:br>
            <a:endParaRPr lang="en-US" sz="1050" dirty="0">
              <a:solidFill>
                <a:srgbClr val="666666"/>
              </a:solidFill>
              <a:latin typeface="Roboto" panose="020B0604020202020204" charset="0"/>
              <a:ea typeface="Roboto" panose="020B0604020202020204" charset="0"/>
              <a:cs typeface="Trebuchet MS"/>
              <a:sym typeface="Trebuchet MS"/>
            </a:endParaRPr>
          </a:p>
          <a:p>
            <a:pPr marL="285750" indent="-285750"/>
            <a:r>
              <a:rPr lang="en-US" sz="1050" dirty="0">
                <a:solidFill>
                  <a:srgbClr val="666666"/>
                </a:solidFill>
                <a:latin typeface="Roboto" panose="020B0604020202020204" charset="0"/>
                <a:ea typeface="Roboto" panose="020B0604020202020204" charset="0"/>
                <a:cs typeface="Trebuchet MS"/>
                <a:sym typeface="Trebuchet MS"/>
              </a:rPr>
              <a:t>Custom Classification</a:t>
            </a:r>
            <a:br>
              <a:rPr lang="en-US" sz="1050" dirty="0">
                <a:solidFill>
                  <a:srgbClr val="666666"/>
                </a:solidFill>
                <a:latin typeface="Roboto" panose="020B0604020202020204" charset="0"/>
                <a:ea typeface="Roboto" panose="020B0604020202020204" charset="0"/>
                <a:cs typeface="Trebuchet MS"/>
                <a:sym typeface="Trebuchet MS"/>
              </a:rPr>
            </a:br>
            <a:r>
              <a:rPr lang="en-US" sz="900" dirty="0">
                <a:solidFill>
                  <a:srgbClr val="666666"/>
                </a:solidFill>
                <a:latin typeface="Roboto" panose="020B0604020202020204" charset="0"/>
                <a:ea typeface="Roboto" panose="020B0604020202020204" charset="0"/>
                <a:cs typeface="Trebuchet MS"/>
                <a:sym typeface="Trebuchet MS"/>
              </a:rPr>
              <a:t>The Custom Classification API enables you to easily build custom text classification models using your business-specific labels without learning ML. </a:t>
            </a:r>
            <a:br>
              <a:rPr lang="en-US" sz="900" dirty="0">
                <a:solidFill>
                  <a:srgbClr val="666666"/>
                </a:solidFill>
                <a:latin typeface="Roboto" panose="020B0604020202020204" charset="0"/>
                <a:ea typeface="Roboto" panose="020B0604020202020204" charset="0"/>
                <a:cs typeface="Trebuchet MS"/>
                <a:sym typeface="Trebuchet MS"/>
              </a:rPr>
            </a:br>
            <a:endParaRPr lang="en-US" sz="900" dirty="0">
              <a:solidFill>
                <a:srgbClr val="666666"/>
              </a:solidFill>
              <a:latin typeface="Roboto" panose="020B0604020202020204" charset="0"/>
              <a:ea typeface="Roboto" panose="020B0604020202020204" charset="0"/>
              <a:cs typeface="Trebuchet MS"/>
              <a:sym typeface="Trebuchet MS"/>
            </a:endParaRPr>
          </a:p>
          <a:p>
            <a:pPr marL="285750" indent="-285750"/>
            <a:r>
              <a:rPr lang="en-US" sz="1050" dirty="0">
                <a:solidFill>
                  <a:srgbClr val="666666"/>
                </a:solidFill>
                <a:latin typeface="Roboto" panose="020B0604020202020204" charset="0"/>
                <a:ea typeface="Roboto" panose="020B0604020202020204" charset="0"/>
                <a:cs typeface="Trebuchet MS"/>
                <a:sym typeface="Trebuchet MS"/>
              </a:rPr>
              <a:t>Topic Modeling</a:t>
            </a:r>
            <a:br>
              <a:rPr lang="en-US" sz="1050" dirty="0">
                <a:solidFill>
                  <a:srgbClr val="666666"/>
                </a:solidFill>
                <a:latin typeface="Roboto" panose="020B0604020202020204" charset="0"/>
                <a:ea typeface="Roboto" panose="020B0604020202020204" charset="0"/>
                <a:cs typeface="Trebuchet MS"/>
                <a:sym typeface="Trebuchet MS"/>
              </a:rPr>
            </a:br>
            <a:r>
              <a:rPr lang="en-US" sz="850" dirty="0">
                <a:solidFill>
                  <a:srgbClr val="666666"/>
                </a:solidFill>
                <a:latin typeface="Roboto" panose="020B0604020202020204" charset="0"/>
                <a:ea typeface="Roboto" panose="020B0604020202020204" charset="0"/>
                <a:cs typeface="Trebuchet MS"/>
                <a:sym typeface="Trebuchet MS"/>
              </a:rPr>
              <a:t>Topic Modeling identifies relevant terms or topics from a collection of documents stored in Amazon S3. It will identify the most common topics in the collection and organize them in groups and then map which documents belong to which topic.</a:t>
            </a:r>
            <a:br>
              <a:rPr lang="en-US" sz="850" dirty="0">
                <a:solidFill>
                  <a:srgbClr val="666666"/>
                </a:solidFill>
                <a:latin typeface="Roboto" panose="020B0604020202020204" charset="0"/>
                <a:ea typeface="Roboto" panose="020B0604020202020204" charset="0"/>
                <a:cs typeface="Trebuchet MS"/>
                <a:sym typeface="Trebuchet MS"/>
              </a:rPr>
            </a:br>
            <a:endParaRPr lang="en-US" sz="1050" dirty="0">
              <a:solidFill>
                <a:srgbClr val="666666"/>
              </a:solidFill>
              <a:latin typeface="Roboto" panose="020B0604020202020204" charset="0"/>
              <a:ea typeface="Roboto" panose="020B0604020202020204" charset="0"/>
              <a:cs typeface="Trebuchet MS"/>
              <a:sym typeface="Trebuchet MS"/>
            </a:endParaRPr>
          </a:p>
          <a:p>
            <a:pPr marL="285750" indent="-285750"/>
            <a:r>
              <a:rPr lang="en-US" sz="1050" dirty="0">
                <a:solidFill>
                  <a:srgbClr val="666666"/>
                </a:solidFill>
                <a:latin typeface="Roboto" panose="020B0604020202020204" charset="0"/>
                <a:ea typeface="Roboto" panose="020B0604020202020204" charset="0"/>
                <a:cs typeface="Trebuchet MS"/>
                <a:sym typeface="Trebuchet MS"/>
              </a:rPr>
              <a:t>Can perform text analysis on English, French, German, Italian, Portuguese, and Spanish texts. </a:t>
            </a:r>
            <a:endParaRPr lang="en-US" sz="850" dirty="0">
              <a:solidFill>
                <a:srgbClr val="666666"/>
              </a:solidFill>
              <a:latin typeface="Roboto" panose="020B0604020202020204" charset="0"/>
              <a:ea typeface="Roboto" panose="020B0604020202020204" charset="0"/>
              <a:cs typeface="Trebuchet MS"/>
              <a:sym typeface="Trebuchet MS"/>
            </a:endParaRPr>
          </a:p>
        </p:txBody>
      </p:sp>
      <p:pic>
        <p:nvPicPr>
          <p:cNvPr id="5" name="Picture 4" descr="Icon&#10;&#10;Description automatically generated">
            <a:extLst>
              <a:ext uri="{FF2B5EF4-FFF2-40B4-BE49-F238E27FC236}">
                <a16:creationId xmlns:a16="http://schemas.microsoft.com/office/drawing/2014/main" id="{E2D15183-E2F2-4576-AF3C-A5980CF3E2E3}"/>
              </a:ext>
            </a:extLst>
          </p:cNvPr>
          <p:cNvPicPr>
            <a:picLocks noChangeAspect="1"/>
          </p:cNvPicPr>
          <p:nvPr/>
        </p:nvPicPr>
        <p:blipFill>
          <a:blip r:embed="rId3"/>
          <a:stretch>
            <a:fillRect/>
          </a:stretch>
        </p:blipFill>
        <p:spPr>
          <a:xfrm>
            <a:off x="685800" y="1933575"/>
            <a:ext cx="1276350" cy="1276350"/>
          </a:xfrm>
          <a:prstGeom prst="rect">
            <a:avLst/>
          </a:prstGeom>
        </p:spPr>
      </p:pic>
    </p:spTree>
    <p:extLst>
      <p:ext uri="{BB962C8B-B14F-4D97-AF65-F5344CB8AC3E}">
        <p14:creationId xmlns:p14="http://schemas.microsoft.com/office/powerpoint/2010/main" val="2239252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
                                            <p:txEl>
                                              <p:pRg st="0" end="0"/>
                                            </p:txEl>
                                          </p:spTgt>
                                        </p:tgtEl>
                                        <p:attrNameLst>
                                          <p:attrName>style.visibility</p:attrName>
                                        </p:attrNameLst>
                                      </p:cBhvr>
                                      <p:to>
                                        <p:strVal val="visible"/>
                                      </p:to>
                                    </p:set>
                                    <p:animEffect transition="in" filter="fade">
                                      <p:cBhvr>
                                        <p:cTn id="7" dur="500"/>
                                        <p:tgtEl>
                                          <p:spTgt spid="1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
                                            <p:txEl>
                                              <p:pRg st="1" end="1"/>
                                            </p:txEl>
                                          </p:spTgt>
                                        </p:tgtEl>
                                        <p:attrNameLst>
                                          <p:attrName>style.visibility</p:attrName>
                                        </p:attrNameLst>
                                      </p:cBhvr>
                                      <p:to>
                                        <p:strVal val="visible"/>
                                      </p:to>
                                    </p:set>
                                    <p:animEffect transition="in" filter="fade">
                                      <p:cBhvr>
                                        <p:cTn id="12" dur="500"/>
                                        <p:tgtEl>
                                          <p:spTgt spid="10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
                                            <p:txEl>
                                              <p:pRg st="2" end="2"/>
                                            </p:txEl>
                                          </p:spTgt>
                                        </p:tgtEl>
                                        <p:attrNameLst>
                                          <p:attrName>style.visibility</p:attrName>
                                        </p:attrNameLst>
                                      </p:cBhvr>
                                      <p:to>
                                        <p:strVal val="visible"/>
                                      </p:to>
                                    </p:set>
                                    <p:animEffect transition="in" filter="fade">
                                      <p:cBhvr>
                                        <p:cTn id="17" dur="500"/>
                                        <p:tgtEl>
                                          <p:spTgt spid="10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
                                            <p:txEl>
                                              <p:pRg st="3" end="3"/>
                                            </p:txEl>
                                          </p:spTgt>
                                        </p:tgtEl>
                                        <p:attrNameLst>
                                          <p:attrName>style.visibility</p:attrName>
                                        </p:attrNameLst>
                                      </p:cBhvr>
                                      <p:to>
                                        <p:strVal val="visible"/>
                                      </p:to>
                                    </p:set>
                                    <p:animEffect transition="in" filter="fade">
                                      <p:cBhvr>
                                        <p:cTn id="22" dur="500"/>
                                        <p:tgtEl>
                                          <p:spTgt spid="10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
                                            <p:txEl>
                                              <p:pRg st="4" end="4"/>
                                            </p:txEl>
                                          </p:spTgt>
                                        </p:tgtEl>
                                        <p:attrNameLst>
                                          <p:attrName>style.visibility</p:attrName>
                                        </p:attrNameLst>
                                      </p:cBhvr>
                                      <p:to>
                                        <p:strVal val="visible"/>
                                      </p:to>
                                    </p:set>
                                    <p:animEffect transition="in" filter="fade">
                                      <p:cBhvr>
                                        <p:cTn id="27" dur="500"/>
                                        <p:tgtEl>
                                          <p:spTgt spid="10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p>
            <a:pPr marL="190500" algn="l">
              <a:lnSpc>
                <a:spcPct val="120000"/>
              </a:lnSpc>
              <a:spcAft>
                <a:spcPts val="500"/>
              </a:spcAft>
            </a:pPr>
            <a:r>
              <a:rPr lang="en-US" sz="2350" dirty="0">
                <a:solidFill>
                  <a:srgbClr val="232C39"/>
                </a:solidFill>
                <a:highlight>
                  <a:srgbClr val="FFFFFF"/>
                </a:highlight>
                <a:latin typeface="Trebuchet MS"/>
                <a:ea typeface="Trebuchet MS"/>
                <a:cs typeface="Trebuchet MS"/>
                <a:sym typeface="Trebuchet MS"/>
              </a:rPr>
              <a:t>IBM </a:t>
            </a:r>
            <a:r>
              <a:rPr lang="en-US" sz="2350" dirty="0">
                <a:solidFill>
                  <a:schemeClr val="tx1"/>
                </a:solidFill>
                <a:highlight>
                  <a:srgbClr val="FFFFFF"/>
                </a:highlight>
                <a:latin typeface="Trebuchet MS"/>
                <a:ea typeface="Trebuchet MS"/>
                <a:cs typeface="Trebuchet MS"/>
                <a:sym typeface="Trebuchet MS"/>
              </a:rPr>
              <a:t>Watson</a:t>
            </a:r>
          </a:p>
        </p:txBody>
      </p:sp>
      <p:sp>
        <p:nvSpPr>
          <p:cNvPr id="102" name="Google Shape;102;p18"/>
          <p:cNvSpPr txBox="1">
            <a:spLocks noGrp="1"/>
          </p:cNvSpPr>
          <p:nvPr>
            <p:ph type="body" idx="1"/>
          </p:nvPr>
        </p:nvSpPr>
        <p:spPr>
          <a:xfrm>
            <a:off x="2400250" y="1211350"/>
            <a:ext cx="6321600" cy="3393600"/>
          </a:xfrm>
          <a:prstGeom prst="rect">
            <a:avLst/>
          </a:prstGeom>
        </p:spPr>
        <p:txBody>
          <a:bodyPr spcFirstLastPara="1" wrap="square" lIns="91425" tIns="91425" rIns="91425" bIns="91425" anchor="t" anchorCtr="0">
            <a:noAutofit/>
          </a:bodyPr>
          <a:lstStyle/>
          <a:p>
            <a:pPr marL="285750" indent="-285750"/>
            <a:r>
              <a:rPr lang="en-US" dirty="0">
                <a:solidFill>
                  <a:srgbClr val="666666"/>
                </a:solidFill>
                <a:latin typeface="Roboto" panose="020B0604020202020204" charset="0"/>
                <a:ea typeface="Roboto" panose="020B0604020202020204" charset="0"/>
                <a:cs typeface="Trebuchet MS"/>
                <a:sym typeface="Trebuchet MS"/>
              </a:rPr>
              <a:t>Sentiment Analysis</a:t>
            </a:r>
            <a:br>
              <a:rPr lang="en-US" dirty="0">
                <a:solidFill>
                  <a:srgbClr val="666666"/>
                </a:solidFill>
                <a:latin typeface="Roboto" panose="020B0604020202020204" charset="0"/>
                <a:ea typeface="Roboto" panose="020B0604020202020204" charset="0"/>
                <a:cs typeface="Trebuchet MS"/>
                <a:sym typeface="Trebuchet MS"/>
              </a:rPr>
            </a:br>
            <a:endParaRPr lang="en-US" dirty="0">
              <a:solidFill>
                <a:srgbClr val="666666"/>
              </a:solidFill>
              <a:latin typeface="Roboto" panose="020B0604020202020204" charset="0"/>
              <a:ea typeface="Roboto" panose="020B0604020202020204" charset="0"/>
              <a:cs typeface="Trebuchet MS"/>
              <a:sym typeface="Trebuchet MS"/>
            </a:endParaRPr>
          </a:p>
          <a:p>
            <a:pPr marL="285750" indent="-285750"/>
            <a:r>
              <a:rPr lang="en-US" dirty="0">
                <a:solidFill>
                  <a:srgbClr val="666666"/>
                </a:solidFill>
                <a:latin typeface="Roboto" panose="020B0604020202020204" charset="0"/>
                <a:ea typeface="Roboto" panose="020B0604020202020204" charset="0"/>
                <a:cs typeface="Trebuchet MS"/>
                <a:sym typeface="Trebuchet MS"/>
              </a:rPr>
              <a:t>Returns targeted sentiment and emotion towards keywords for deeper analysis </a:t>
            </a:r>
            <a:br>
              <a:rPr lang="en-US" dirty="0">
                <a:solidFill>
                  <a:srgbClr val="666666"/>
                </a:solidFill>
                <a:latin typeface="Roboto" panose="020B0604020202020204" charset="0"/>
                <a:ea typeface="Roboto" panose="020B0604020202020204" charset="0"/>
                <a:cs typeface="Trebuchet MS"/>
                <a:sym typeface="Trebuchet MS"/>
              </a:rPr>
            </a:br>
            <a:endParaRPr lang="en-US" dirty="0">
              <a:solidFill>
                <a:srgbClr val="666666"/>
              </a:solidFill>
              <a:latin typeface="Roboto" panose="020B0604020202020204" charset="0"/>
              <a:ea typeface="Roboto" panose="020B0604020202020204" charset="0"/>
              <a:cs typeface="Trebuchet MS"/>
              <a:sym typeface="Trebuchet MS"/>
            </a:endParaRPr>
          </a:p>
          <a:p>
            <a:pPr marL="285750" indent="-285750"/>
            <a:r>
              <a:rPr lang="en-US" dirty="0">
                <a:solidFill>
                  <a:srgbClr val="666666"/>
                </a:solidFill>
                <a:latin typeface="Roboto" panose="020B0604020202020204" charset="0"/>
                <a:ea typeface="Roboto" panose="020B0604020202020204" charset="0"/>
                <a:cs typeface="Trebuchet MS"/>
                <a:sym typeface="Trebuchet MS"/>
              </a:rPr>
              <a:t>Analyzes text to extract meta-data from content </a:t>
            </a:r>
            <a:br>
              <a:rPr lang="en-US" dirty="0">
                <a:solidFill>
                  <a:srgbClr val="666666"/>
                </a:solidFill>
                <a:latin typeface="Roboto" panose="020B0604020202020204" charset="0"/>
                <a:ea typeface="Roboto" panose="020B0604020202020204" charset="0"/>
                <a:cs typeface="Trebuchet MS"/>
                <a:sym typeface="Trebuchet MS"/>
              </a:rPr>
            </a:br>
            <a:endParaRPr lang="en-US" dirty="0">
              <a:solidFill>
                <a:srgbClr val="666666"/>
              </a:solidFill>
              <a:latin typeface="Roboto" panose="020B0604020202020204" charset="0"/>
              <a:ea typeface="Roboto" panose="020B0604020202020204" charset="0"/>
              <a:cs typeface="Trebuchet MS"/>
              <a:sym typeface="Trebuchet MS"/>
            </a:endParaRPr>
          </a:p>
          <a:p>
            <a:pPr marL="285750" indent="-285750"/>
            <a:r>
              <a:rPr lang="en-US" dirty="0">
                <a:solidFill>
                  <a:srgbClr val="666666"/>
                </a:solidFill>
                <a:latin typeface="Roboto" panose="020B0604020202020204" charset="0"/>
                <a:ea typeface="Roboto" panose="020B0604020202020204" charset="0"/>
                <a:cs typeface="Trebuchet MS"/>
                <a:sym typeface="Trebuchet MS"/>
              </a:rPr>
              <a:t>AlchemyLanguage is a collection of APIs that offer text analysis through natural language processing. </a:t>
            </a:r>
          </a:p>
          <a:p>
            <a:pPr marL="285750" indent="-285750"/>
            <a:endParaRPr lang="en-US" dirty="0">
              <a:solidFill>
                <a:srgbClr val="666666"/>
              </a:solidFill>
              <a:latin typeface="Roboto" panose="020B0604020202020204" charset="0"/>
              <a:ea typeface="Roboto" panose="020B0604020202020204" charset="0"/>
              <a:cs typeface="Trebuchet MS"/>
              <a:sym typeface="Trebuchet MS"/>
            </a:endParaRPr>
          </a:p>
        </p:txBody>
      </p:sp>
      <p:pic>
        <p:nvPicPr>
          <p:cNvPr id="3" name="Picture 2" descr="Icon&#10;&#10;Description automatically generated">
            <a:extLst>
              <a:ext uri="{FF2B5EF4-FFF2-40B4-BE49-F238E27FC236}">
                <a16:creationId xmlns:a16="http://schemas.microsoft.com/office/drawing/2014/main" id="{40EA5A05-A617-4FF4-AD5B-A4315B69A8D3}"/>
              </a:ext>
            </a:extLst>
          </p:cNvPr>
          <p:cNvPicPr>
            <a:picLocks noChangeAspect="1"/>
          </p:cNvPicPr>
          <p:nvPr/>
        </p:nvPicPr>
        <p:blipFill>
          <a:blip r:embed="rId3"/>
          <a:stretch>
            <a:fillRect/>
          </a:stretch>
        </p:blipFill>
        <p:spPr>
          <a:xfrm>
            <a:off x="654175" y="1663803"/>
            <a:ext cx="1338491" cy="1244347"/>
          </a:xfrm>
          <a:prstGeom prst="rect">
            <a:avLst/>
          </a:prstGeom>
        </p:spPr>
      </p:pic>
    </p:spTree>
    <p:extLst>
      <p:ext uri="{BB962C8B-B14F-4D97-AF65-F5344CB8AC3E}">
        <p14:creationId xmlns:p14="http://schemas.microsoft.com/office/powerpoint/2010/main" val="3690646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5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2">
                                            <p:txEl>
                                              <p:pRg st="0" end="0"/>
                                            </p:txEl>
                                          </p:spTgt>
                                        </p:tgtEl>
                                        <p:attrNameLst>
                                          <p:attrName>style.visibility</p:attrName>
                                        </p:attrNameLst>
                                      </p:cBhvr>
                                      <p:to>
                                        <p:strVal val="visible"/>
                                      </p:to>
                                    </p:set>
                                    <p:animEffect transition="in" filter="fade">
                                      <p:cBhvr>
                                        <p:cTn id="15" dur="500"/>
                                        <p:tgtEl>
                                          <p:spTgt spid="10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2">
                                            <p:txEl>
                                              <p:pRg st="1" end="1"/>
                                            </p:txEl>
                                          </p:spTgt>
                                        </p:tgtEl>
                                        <p:attrNameLst>
                                          <p:attrName>style.visibility</p:attrName>
                                        </p:attrNameLst>
                                      </p:cBhvr>
                                      <p:to>
                                        <p:strVal val="visible"/>
                                      </p:to>
                                    </p:set>
                                    <p:animEffect transition="in" filter="fade">
                                      <p:cBhvr>
                                        <p:cTn id="20" dur="500"/>
                                        <p:tgtEl>
                                          <p:spTgt spid="10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2">
                                            <p:txEl>
                                              <p:pRg st="2" end="2"/>
                                            </p:txEl>
                                          </p:spTgt>
                                        </p:tgtEl>
                                        <p:attrNameLst>
                                          <p:attrName>style.visibility</p:attrName>
                                        </p:attrNameLst>
                                      </p:cBhvr>
                                      <p:to>
                                        <p:strVal val="visible"/>
                                      </p:to>
                                    </p:set>
                                    <p:animEffect transition="in" filter="fade">
                                      <p:cBhvr>
                                        <p:cTn id="25" dur="500"/>
                                        <p:tgtEl>
                                          <p:spTgt spid="102">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2">
                                            <p:txEl>
                                              <p:pRg st="3" end="3"/>
                                            </p:txEl>
                                          </p:spTgt>
                                        </p:tgtEl>
                                        <p:attrNameLst>
                                          <p:attrName>style.visibility</p:attrName>
                                        </p:attrNameLst>
                                      </p:cBhvr>
                                      <p:to>
                                        <p:strVal val="visible"/>
                                      </p:to>
                                    </p:set>
                                    <p:animEffect transition="in" filter="fade">
                                      <p:cBhvr>
                                        <p:cTn id="30" dur="500"/>
                                        <p:tgtEl>
                                          <p:spTgt spid="10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p>
            <a:pPr marL="190500" algn="l">
              <a:lnSpc>
                <a:spcPct val="120000"/>
              </a:lnSpc>
              <a:spcAft>
                <a:spcPts val="500"/>
              </a:spcAft>
            </a:pPr>
            <a:r>
              <a:rPr lang="en-US" sz="2350" dirty="0">
                <a:solidFill>
                  <a:srgbClr val="232C39"/>
                </a:solidFill>
                <a:highlight>
                  <a:srgbClr val="FFFFFF"/>
                </a:highlight>
                <a:latin typeface="Trebuchet MS"/>
                <a:ea typeface="Trebuchet MS"/>
                <a:cs typeface="Trebuchet MS"/>
                <a:sym typeface="Trebuchet MS"/>
              </a:rPr>
              <a:t>Google Cloud </a:t>
            </a:r>
            <a:r>
              <a:rPr lang="en-US" sz="2350" dirty="0">
                <a:solidFill>
                  <a:schemeClr val="tx1"/>
                </a:solidFill>
                <a:highlight>
                  <a:srgbClr val="FFFFFF"/>
                </a:highlight>
                <a:latin typeface="Trebuchet MS"/>
                <a:ea typeface="Trebuchet MS"/>
                <a:cs typeface="Trebuchet MS"/>
                <a:sym typeface="Trebuchet MS"/>
              </a:rPr>
              <a:t>Natural Language API</a:t>
            </a:r>
          </a:p>
        </p:txBody>
      </p:sp>
      <p:sp>
        <p:nvSpPr>
          <p:cNvPr id="102" name="Google Shape;102;p18"/>
          <p:cNvSpPr txBox="1">
            <a:spLocks noGrp="1"/>
          </p:cNvSpPr>
          <p:nvPr>
            <p:ph type="body" idx="1"/>
          </p:nvPr>
        </p:nvSpPr>
        <p:spPr>
          <a:xfrm>
            <a:off x="2400250" y="1173950"/>
            <a:ext cx="6321600" cy="3393600"/>
          </a:xfrm>
          <a:prstGeom prst="rect">
            <a:avLst/>
          </a:prstGeom>
        </p:spPr>
        <p:txBody>
          <a:bodyPr spcFirstLastPara="1" wrap="square" lIns="91425" tIns="91425" rIns="91425" bIns="91425" anchor="t" anchorCtr="0">
            <a:noAutofit/>
          </a:bodyPr>
          <a:lstStyle/>
          <a:p>
            <a:pPr marL="285750" indent="-285750"/>
            <a: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t>Syntax Analysis </a:t>
            </a:r>
            <a:b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br>
            <a:endParaRPr lang="en-US" sz="1200" dirty="0">
              <a:solidFill>
                <a:schemeClr val="bg2">
                  <a:lumMod val="85000"/>
                  <a:lumOff val="15000"/>
                </a:schemeClr>
              </a:solidFill>
              <a:latin typeface="Roboto" panose="020B0604020202020204" charset="0"/>
              <a:ea typeface="Roboto" panose="020B0604020202020204" charset="0"/>
              <a:cs typeface="Trebuchet MS"/>
              <a:sym typeface="Trebuchet MS"/>
            </a:endParaRPr>
          </a:p>
          <a:p>
            <a:pPr marL="285750" indent="-285750"/>
            <a: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t>Entity Analysis</a:t>
            </a:r>
            <a:b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br>
            <a:endParaRPr lang="en-US" sz="1200" dirty="0">
              <a:solidFill>
                <a:schemeClr val="bg2">
                  <a:lumMod val="85000"/>
                  <a:lumOff val="15000"/>
                </a:schemeClr>
              </a:solidFill>
              <a:latin typeface="Roboto" panose="020B0604020202020204" charset="0"/>
              <a:ea typeface="Roboto" panose="020B0604020202020204" charset="0"/>
              <a:cs typeface="Trebuchet MS"/>
              <a:sym typeface="Trebuchet MS"/>
            </a:endParaRPr>
          </a:p>
          <a:p>
            <a:pPr marL="285750" indent="-285750"/>
            <a: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t>Sentiment Analysis</a:t>
            </a:r>
            <a:b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br>
            <a:endParaRPr lang="en-US" sz="1200" dirty="0">
              <a:solidFill>
                <a:schemeClr val="bg2">
                  <a:lumMod val="85000"/>
                  <a:lumOff val="15000"/>
                </a:schemeClr>
              </a:solidFill>
              <a:latin typeface="Roboto" panose="020B0604020202020204" charset="0"/>
              <a:ea typeface="Roboto" panose="020B0604020202020204" charset="0"/>
              <a:cs typeface="Trebuchet MS"/>
              <a:sym typeface="Trebuchet MS"/>
            </a:endParaRPr>
          </a:p>
          <a:p>
            <a:pPr marL="285750" indent="-285750"/>
            <a: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t>Entity Sentiment Analysis </a:t>
            </a:r>
            <a:b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br>
            <a:endParaRPr lang="en-US" sz="1200" dirty="0">
              <a:solidFill>
                <a:schemeClr val="bg2">
                  <a:lumMod val="85000"/>
                  <a:lumOff val="15000"/>
                </a:schemeClr>
              </a:solidFill>
              <a:latin typeface="Roboto" panose="020B0604020202020204" charset="0"/>
              <a:ea typeface="Roboto" panose="020B0604020202020204" charset="0"/>
              <a:cs typeface="Trebuchet MS"/>
              <a:sym typeface="Trebuchet MS"/>
            </a:endParaRPr>
          </a:p>
          <a:p>
            <a:pPr marL="285750" indent="-285750"/>
            <a: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t>Multi-Language</a:t>
            </a:r>
            <a:b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br>
            <a:endParaRPr lang="en-US" sz="1200" dirty="0">
              <a:solidFill>
                <a:schemeClr val="bg2">
                  <a:lumMod val="85000"/>
                  <a:lumOff val="15000"/>
                </a:schemeClr>
              </a:solidFill>
              <a:latin typeface="Roboto" panose="020B0604020202020204" charset="0"/>
              <a:ea typeface="Roboto" panose="020B0604020202020204" charset="0"/>
              <a:cs typeface="Trebuchet MS"/>
              <a:sym typeface="Trebuchet MS"/>
            </a:endParaRPr>
          </a:p>
          <a:p>
            <a:pPr marL="285750" indent="-285750"/>
            <a: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t>Integrated REST API</a:t>
            </a:r>
            <a:b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br>
            <a:endParaRPr lang="en-US" sz="1200" dirty="0">
              <a:solidFill>
                <a:schemeClr val="bg2">
                  <a:lumMod val="85000"/>
                  <a:lumOff val="15000"/>
                </a:schemeClr>
              </a:solidFill>
              <a:latin typeface="Roboto" panose="020B0604020202020204" charset="0"/>
              <a:ea typeface="Roboto" panose="020B0604020202020204" charset="0"/>
              <a:cs typeface="Trebuchet MS"/>
              <a:sym typeface="Trebuchet MS"/>
            </a:endParaRPr>
          </a:p>
          <a:p>
            <a:pPr marL="285750" indent="-285750"/>
            <a: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t>Healthcare Natural Language AI</a:t>
            </a:r>
            <a:b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br>
            <a:r>
              <a:rPr lang="en-US" sz="1100" dirty="0">
                <a:solidFill>
                  <a:schemeClr val="bg2">
                    <a:lumMod val="85000"/>
                    <a:lumOff val="15000"/>
                  </a:schemeClr>
                </a:solidFill>
                <a:latin typeface="Roboto" panose="020B0604020202020204" charset="0"/>
                <a:ea typeface="Roboto" panose="020B0604020202020204" charset="0"/>
                <a:cs typeface="Trebuchet MS"/>
                <a:sym typeface="Trebuchet MS"/>
              </a:rPr>
              <a:t>Real-time analysis of insights stored in unstructured medical text</a:t>
            </a:r>
            <a:br>
              <a:rPr lang="en-US" sz="1100" dirty="0">
                <a:solidFill>
                  <a:schemeClr val="bg2">
                    <a:lumMod val="85000"/>
                    <a:lumOff val="15000"/>
                  </a:schemeClr>
                </a:solidFill>
                <a:latin typeface="Roboto" panose="020B0604020202020204" charset="0"/>
                <a:ea typeface="Roboto" panose="020B0604020202020204" charset="0"/>
                <a:cs typeface="Trebuchet MS"/>
                <a:sym typeface="Trebuchet MS"/>
              </a:rPr>
            </a:br>
            <a:endParaRPr lang="en-US" sz="1100" dirty="0">
              <a:solidFill>
                <a:schemeClr val="bg2">
                  <a:lumMod val="85000"/>
                  <a:lumOff val="15000"/>
                </a:schemeClr>
              </a:solidFill>
              <a:latin typeface="Roboto" panose="020B0604020202020204" charset="0"/>
              <a:ea typeface="Roboto" panose="020B0604020202020204" charset="0"/>
              <a:cs typeface="Trebuchet MS"/>
              <a:sym typeface="Trebuchet MS"/>
            </a:endParaRPr>
          </a:p>
          <a:p>
            <a:pPr marL="285750" indent="-285750"/>
            <a:r>
              <a:rPr lang="en-US" sz="1200" b="0" i="0" dirty="0">
                <a:solidFill>
                  <a:schemeClr val="bg2">
                    <a:lumMod val="85000"/>
                    <a:lumOff val="15000"/>
                  </a:schemeClr>
                </a:solidFill>
                <a:effectLst/>
                <a:latin typeface="Roboto" panose="020B0604020202020204" charset="0"/>
                <a:ea typeface="Roboto" panose="020B0604020202020204" charset="0"/>
              </a:rPr>
              <a:t>Can integrate Google’s AI tools with our Cloud Storage</a:t>
            </a:r>
            <a:endParaRPr lang="en-US" sz="1200" dirty="0">
              <a:solidFill>
                <a:schemeClr val="bg2">
                  <a:lumMod val="85000"/>
                  <a:lumOff val="15000"/>
                </a:schemeClr>
              </a:solidFill>
              <a:latin typeface="Roboto" panose="020B0604020202020204" charset="0"/>
              <a:ea typeface="Roboto" panose="020B0604020202020204" charset="0"/>
              <a:cs typeface="Trebuchet MS"/>
              <a:sym typeface="Trebuchet MS"/>
            </a:endParaRPr>
          </a:p>
        </p:txBody>
      </p:sp>
      <p:pic>
        <p:nvPicPr>
          <p:cNvPr id="3" name="Picture 2" descr="Icon&#10;&#10;Description automatically generated">
            <a:extLst>
              <a:ext uri="{FF2B5EF4-FFF2-40B4-BE49-F238E27FC236}">
                <a16:creationId xmlns:a16="http://schemas.microsoft.com/office/drawing/2014/main" id="{5B8CF15C-6C3A-472D-8C4B-381F19E298F1}"/>
              </a:ext>
            </a:extLst>
          </p:cNvPr>
          <p:cNvPicPr>
            <a:picLocks noChangeAspect="1"/>
          </p:cNvPicPr>
          <p:nvPr/>
        </p:nvPicPr>
        <p:blipFill>
          <a:blip r:embed="rId3"/>
          <a:stretch>
            <a:fillRect/>
          </a:stretch>
        </p:blipFill>
        <p:spPr>
          <a:xfrm>
            <a:off x="-466725" y="1678781"/>
            <a:ext cx="3401785" cy="1785937"/>
          </a:xfrm>
          <a:prstGeom prst="rect">
            <a:avLst/>
          </a:prstGeom>
        </p:spPr>
      </p:pic>
    </p:spTree>
    <p:extLst>
      <p:ext uri="{BB962C8B-B14F-4D97-AF65-F5344CB8AC3E}">
        <p14:creationId xmlns:p14="http://schemas.microsoft.com/office/powerpoint/2010/main" val="18274318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500"/>
                                        <p:tgtEl>
                                          <p:spTgt spid="10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2">
                                            <p:txEl>
                                              <p:pRg st="0" end="0"/>
                                            </p:txEl>
                                          </p:spTgt>
                                        </p:tgtEl>
                                        <p:attrNameLst>
                                          <p:attrName>style.visibility</p:attrName>
                                        </p:attrNameLst>
                                      </p:cBhvr>
                                      <p:to>
                                        <p:strVal val="visible"/>
                                      </p:to>
                                    </p:set>
                                    <p:animEffect transition="in" filter="fade">
                                      <p:cBhvr>
                                        <p:cTn id="15" dur="500"/>
                                        <p:tgtEl>
                                          <p:spTgt spid="10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2">
                                            <p:txEl>
                                              <p:pRg st="1" end="1"/>
                                            </p:txEl>
                                          </p:spTgt>
                                        </p:tgtEl>
                                        <p:attrNameLst>
                                          <p:attrName>style.visibility</p:attrName>
                                        </p:attrNameLst>
                                      </p:cBhvr>
                                      <p:to>
                                        <p:strVal val="visible"/>
                                      </p:to>
                                    </p:set>
                                    <p:animEffect transition="in" filter="fade">
                                      <p:cBhvr>
                                        <p:cTn id="20" dur="500"/>
                                        <p:tgtEl>
                                          <p:spTgt spid="10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2">
                                            <p:txEl>
                                              <p:pRg st="2" end="2"/>
                                            </p:txEl>
                                          </p:spTgt>
                                        </p:tgtEl>
                                        <p:attrNameLst>
                                          <p:attrName>style.visibility</p:attrName>
                                        </p:attrNameLst>
                                      </p:cBhvr>
                                      <p:to>
                                        <p:strVal val="visible"/>
                                      </p:to>
                                    </p:set>
                                    <p:animEffect transition="in" filter="fade">
                                      <p:cBhvr>
                                        <p:cTn id="25" dur="500"/>
                                        <p:tgtEl>
                                          <p:spTgt spid="102">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2">
                                            <p:txEl>
                                              <p:pRg st="3" end="3"/>
                                            </p:txEl>
                                          </p:spTgt>
                                        </p:tgtEl>
                                        <p:attrNameLst>
                                          <p:attrName>style.visibility</p:attrName>
                                        </p:attrNameLst>
                                      </p:cBhvr>
                                      <p:to>
                                        <p:strVal val="visible"/>
                                      </p:to>
                                    </p:set>
                                    <p:animEffect transition="in" filter="fade">
                                      <p:cBhvr>
                                        <p:cTn id="30" dur="500"/>
                                        <p:tgtEl>
                                          <p:spTgt spid="102">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2">
                                            <p:txEl>
                                              <p:pRg st="4" end="4"/>
                                            </p:txEl>
                                          </p:spTgt>
                                        </p:tgtEl>
                                        <p:attrNameLst>
                                          <p:attrName>style.visibility</p:attrName>
                                        </p:attrNameLst>
                                      </p:cBhvr>
                                      <p:to>
                                        <p:strVal val="visible"/>
                                      </p:to>
                                    </p:set>
                                    <p:animEffect transition="in" filter="fade">
                                      <p:cBhvr>
                                        <p:cTn id="35" dur="500"/>
                                        <p:tgtEl>
                                          <p:spTgt spid="102">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2">
                                            <p:txEl>
                                              <p:pRg st="5" end="5"/>
                                            </p:txEl>
                                          </p:spTgt>
                                        </p:tgtEl>
                                        <p:attrNameLst>
                                          <p:attrName>style.visibility</p:attrName>
                                        </p:attrNameLst>
                                      </p:cBhvr>
                                      <p:to>
                                        <p:strVal val="visible"/>
                                      </p:to>
                                    </p:set>
                                    <p:animEffect transition="in" filter="fade">
                                      <p:cBhvr>
                                        <p:cTn id="40" dur="500"/>
                                        <p:tgtEl>
                                          <p:spTgt spid="102">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02">
                                            <p:txEl>
                                              <p:pRg st="6" end="6"/>
                                            </p:txEl>
                                          </p:spTgt>
                                        </p:tgtEl>
                                        <p:attrNameLst>
                                          <p:attrName>style.visibility</p:attrName>
                                        </p:attrNameLst>
                                      </p:cBhvr>
                                      <p:to>
                                        <p:strVal val="visible"/>
                                      </p:to>
                                    </p:set>
                                    <p:animEffect transition="in" filter="fade">
                                      <p:cBhvr>
                                        <p:cTn id="45" dur="500"/>
                                        <p:tgtEl>
                                          <p:spTgt spid="102">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02">
                                            <p:txEl>
                                              <p:pRg st="7" end="7"/>
                                            </p:txEl>
                                          </p:spTgt>
                                        </p:tgtEl>
                                        <p:attrNameLst>
                                          <p:attrName>style.visibility</p:attrName>
                                        </p:attrNameLst>
                                      </p:cBhvr>
                                      <p:to>
                                        <p:strVal val="visible"/>
                                      </p:to>
                                    </p:set>
                                    <p:animEffect transition="in" filter="fade">
                                      <p:cBhvr>
                                        <p:cTn id="50" dur="500"/>
                                        <p:tgtEl>
                                          <p:spTgt spid="10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p>
            <a:pPr marL="190500" algn="l">
              <a:lnSpc>
                <a:spcPct val="120000"/>
              </a:lnSpc>
              <a:spcAft>
                <a:spcPts val="500"/>
              </a:spcAft>
            </a:pPr>
            <a:r>
              <a:rPr lang="en-US" sz="2350" dirty="0">
                <a:solidFill>
                  <a:srgbClr val="232C39"/>
                </a:solidFill>
                <a:highlight>
                  <a:srgbClr val="FFFFFF"/>
                </a:highlight>
                <a:latin typeface="Trebuchet MS"/>
                <a:ea typeface="Trebuchet MS"/>
                <a:cs typeface="Trebuchet MS"/>
                <a:sym typeface="Trebuchet MS"/>
              </a:rPr>
              <a:t>Microsoft Azure Text </a:t>
            </a:r>
            <a:r>
              <a:rPr lang="en-US" sz="2350" dirty="0">
                <a:solidFill>
                  <a:schemeClr val="tx1"/>
                </a:solidFill>
                <a:highlight>
                  <a:srgbClr val="FFFFFF"/>
                </a:highlight>
                <a:latin typeface="Trebuchet MS"/>
                <a:ea typeface="Trebuchet MS"/>
                <a:cs typeface="Trebuchet MS"/>
                <a:sym typeface="Trebuchet MS"/>
              </a:rPr>
              <a:t>Analytics API</a:t>
            </a:r>
          </a:p>
        </p:txBody>
      </p:sp>
      <p:sp>
        <p:nvSpPr>
          <p:cNvPr id="102" name="Google Shape;102;p18"/>
          <p:cNvSpPr txBox="1">
            <a:spLocks noGrp="1"/>
          </p:cNvSpPr>
          <p:nvPr>
            <p:ph type="body" idx="1"/>
          </p:nvPr>
        </p:nvSpPr>
        <p:spPr>
          <a:xfrm>
            <a:off x="2400250" y="1173950"/>
            <a:ext cx="6321600" cy="3393600"/>
          </a:xfrm>
          <a:prstGeom prst="rect">
            <a:avLst/>
          </a:prstGeom>
        </p:spPr>
        <p:txBody>
          <a:bodyPr spcFirstLastPara="1" wrap="square" lIns="91425" tIns="91425" rIns="91425" bIns="91425" anchor="t" anchorCtr="0">
            <a:noAutofit/>
          </a:bodyPr>
          <a:lstStyle/>
          <a:p>
            <a:pPr marL="285750" indent="-285750"/>
            <a: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t>Sentiment analysis </a:t>
            </a:r>
            <a:b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br>
            <a:endParaRPr lang="en-US" sz="1200" dirty="0">
              <a:solidFill>
                <a:schemeClr val="bg2">
                  <a:lumMod val="85000"/>
                  <a:lumOff val="15000"/>
                </a:schemeClr>
              </a:solidFill>
              <a:latin typeface="Roboto" panose="020B0604020202020204" charset="0"/>
              <a:ea typeface="Roboto" panose="020B0604020202020204" charset="0"/>
              <a:cs typeface="Trebuchet MS"/>
              <a:sym typeface="Trebuchet MS"/>
            </a:endParaRPr>
          </a:p>
          <a:p>
            <a:pPr marL="285750" indent="-285750"/>
            <a: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t>Key phrase extraction </a:t>
            </a:r>
            <a:b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br>
            <a:endParaRPr lang="en-US" sz="1200" dirty="0">
              <a:solidFill>
                <a:schemeClr val="bg2">
                  <a:lumMod val="85000"/>
                  <a:lumOff val="15000"/>
                </a:schemeClr>
              </a:solidFill>
              <a:latin typeface="Roboto" panose="020B0604020202020204" charset="0"/>
              <a:ea typeface="Roboto" panose="020B0604020202020204" charset="0"/>
              <a:cs typeface="Trebuchet MS"/>
              <a:sym typeface="Trebuchet MS"/>
            </a:endParaRPr>
          </a:p>
          <a:p>
            <a:pPr marL="285750" indent="-285750"/>
            <a: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t>Language detection Entity Sentiment Analysis </a:t>
            </a:r>
            <a:b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br>
            <a:endParaRPr lang="en-US" sz="1200" dirty="0">
              <a:solidFill>
                <a:schemeClr val="bg2">
                  <a:lumMod val="85000"/>
                  <a:lumOff val="15000"/>
                </a:schemeClr>
              </a:solidFill>
              <a:latin typeface="Roboto" panose="020B0604020202020204" charset="0"/>
              <a:ea typeface="Roboto" panose="020B0604020202020204" charset="0"/>
              <a:cs typeface="Trebuchet MS"/>
              <a:sym typeface="Trebuchet MS"/>
            </a:endParaRPr>
          </a:p>
          <a:p>
            <a:pPr marL="285750" indent="-285750"/>
            <a: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t>POS-tagging</a:t>
            </a:r>
            <a:b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br>
            <a:endParaRPr lang="en-US" sz="1200" dirty="0">
              <a:solidFill>
                <a:schemeClr val="bg2">
                  <a:lumMod val="85000"/>
                  <a:lumOff val="15000"/>
                </a:schemeClr>
              </a:solidFill>
              <a:latin typeface="Roboto" panose="020B0604020202020204" charset="0"/>
              <a:ea typeface="Roboto" panose="020B0604020202020204" charset="0"/>
              <a:cs typeface="Trebuchet MS"/>
              <a:sym typeface="Trebuchet MS"/>
            </a:endParaRPr>
          </a:p>
          <a:p>
            <a:pPr marL="285750" indent="-285750"/>
            <a: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t>Multi-Language</a:t>
            </a:r>
            <a:b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br>
            <a:endParaRPr lang="en-US" sz="1200" dirty="0">
              <a:solidFill>
                <a:schemeClr val="bg2">
                  <a:lumMod val="85000"/>
                  <a:lumOff val="15000"/>
                </a:schemeClr>
              </a:solidFill>
              <a:latin typeface="Roboto" panose="020B0604020202020204" charset="0"/>
              <a:ea typeface="Roboto" panose="020B0604020202020204" charset="0"/>
              <a:cs typeface="Trebuchet MS"/>
              <a:sym typeface="Trebuchet MS"/>
            </a:endParaRPr>
          </a:p>
          <a:p>
            <a:pPr marL="285750" indent="-285750"/>
            <a: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t>No training data is needed to use this API</a:t>
            </a:r>
          </a:p>
          <a:p>
            <a:pPr marL="285750" indent="-285750"/>
            <a:endParaRPr lang="en-US" sz="1200" dirty="0">
              <a:solidFill>
                <a:schemeClr val="bg2">
                  <a:lumMod val="85000"/>
                  <a:lumOff val="15000"/>
                </a:schemeClr>
              </a:solidFill>
              <a:latin typeface="Roboto" panose="020B0604020202020204" charset="0"/>
              <a:ea typeface="Roboto" panose="020B0604020202020204" charset="0"/>
              <a:cs typeface="Trebuchet MS"/>
              <a:sym typeface="Trebuchet MS"/>
            </a:endParaRPr>
          </a:p>
          <a:p>
            <a:pPr marL="285750" indent="-285750"/>
            <a:r>
              <a:rPr lang="en-US" sz="1200" dirty="0">
                <a:solidFill>
                  <a:schemeClr val="bg2">
                    <a:lumMod val="85000"/>
                    <a:lumOff val="15000"/>
                  </a:schemeClr>
                </a:solidFill>
                <a:latin typeface="Roboto" panose="020B0604020202020204" charset="0"/>
                <a:ea typeface="Roboto" panose="020B0604020202020204" charset="0"/>
                <a:cs typeface="Trebuchet MS"/>
                <a:sym typeface="Trebuchet MS"/>
              </a:rPr>
              <a:t>Can be integrated with Azure cloud</a:t>
            </a:r>
          </a:p>
          <a:p>
            <a:pPr marL="285750" indent="-285750"/>
            <a:endParaRPr lang="en-US" sz="1200" dirty="0">
              <a:solidFill>
                <a:schemeClr val="bg2">
                  <a:lumMod val="85000"/>
                  <a:lumOff val="15000"/>
                </a:schemeClr>
              </a:solidFill>
              <a:latin typeface="Roboto" panose="020B0604020202020204" charset="0"/>
              <a:ea typeface="Roboto" panose="020B0604020202020204" charset="0"/>
              <a:cs typeface="Trebuchet MS"/>
              <a:sym typeface="Trebuchet MS"/>
            </a:endParaRPr>
          </a:p>
        </p:txBody>
      </p:sp>
      <p:pic>
        <p:nvPicPr>
          <p:cNvPr id="3" name="Picture 2" descr="Logo, company name&#10;&#10;Description automatically generated">
            <a:extLst>
              <a:ext uri="{FF2B5EF4-FFF2-40B4-BE49-F238E27FC236}">
                <a16:creationId xmlns:a16="http://schemas.microsoft.com/office/drawing/2014/main" id="{B3E5529C-DDD2-4BB6-8F5A-213ECFA101CB}"/>
              </a:ext>
            </a:extLst>
          </p:cNvPr>
          <p:cNvPicPr>
            <a:picLocks noChangeAspect="1"/>
          </p:cNvPicPr>
          <p:nvPr/>
        </p:nvPicPr>
        <p:blipFill rotWithShape="1">
          <a:blip r:embed="rId3"/>
          <a:srcRect t="24257" r="69072" b="27287"/>
          <a:stretch/>
        </p:blipFill>
        <p:spPr>
          <a:xfrm>
            <a:off x="326900" y="1771649"/>
            <a:ext cx="1351037" cy="1190625"/>
          </a:xfrm>
          <a:prstGeom prst="rect">
            <a:avLst/>
          </a:prstGeom>
        </p:spPr>
      </p:pic>
    </p:spTree>
    <p:extLst>
      <p:ext uri="{BB962C8B-B14F-4D97-AF65-F5344CB8AC3E}">
        <p14:creationId xmlns:p14="http://schemas.microsoft.com/office/powerpoint/2010/main" val="3661229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5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2">
                                            <p:txEl>
                                              <p:pRg st="0" end="0"/>
                                            </p:txEl>
                                          </p:spTgt>
                                        </p:tgtEl>
                                        <p:attrNameLst>
                                          <p:attrName>style.visibility</p:attrName>
                                        </p:attrNameLst>
                                      </p:cBhvr>
                                      <p:to>
                                        <p:strVal val="visible"/>
                                      </p:to>
                                    </p:set>
                                    <p:animEffect transition="in" filter="fade">
                                      <p:cBhvr>
                                        <p:cTn id="15" dur="500"/>
                                        <p:tgtEl>
                                          <p:spTgt spid="10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2">
                                            <p:txEl>
                                              <p:pRg st="1" end="1"/>
                                            </p:txEl>
                                          </p:spTgt>
                                        </p:tgtEl>
                                        <p:attrNameLst>
                                          <p:attrName>style.visibility</p:attrName>
                                        </p:attrNameLst>
                                      </p:cBhvr>
                                      <p:to>
                                        <p:strVal val="visible"/>
                                      </p:to>
                                    </p:set>
                                    <p:animEffect transition="in" filter="fade">
                                      <p:cBhvr>
                                        <p:cTn id="20" dur="500"/>
                                        <p:tgtEl>
                                          <p:spTgt spid="10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2">
                                            <p:txEl>
                                              <p:pRg st="2" end="2"/>
                                            </p:txEl>
                                          </p:spTgt>
                                        </p:tgtEl>
                                        <p:attrNameLst>
                                          <p:attrName>style.visibility</p:attrName>
                                        </p:attrNameLst>
                                      </p:cBhvr>
                                      <p:to>
                                        <p:strVal val="visible"/>
                                      </p:to>
                                    </p:set>
                                    <p:animEffect transition="in" filter="fade">
                                      <p:cBhvr>
                                        <p:cTn id="25" dur="500"/>
                                        <p:tgtEl>
                                          <p:spTgt spid="102">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2">
                                            <p:txEl>
                                              <p:pRg st="3" end="3"/>
                                            </p:txEl>
                                          </p:spTgt>
                                        </p:tgtEl>
                                        <p:attrNameLst>
                                          <p:attrName>style.visibility</p:attrName>
                                        </p:attrNameLst>
                                      </p:cBhvr>
                                      <p:to>
                                        <p:strVal val="visible"/>
                                      </p:to>
                                    </p:set>
                                    <p:animEffect transition="in" filter="fade">
                                      <p:cBhvr>
                                        <p:cTn id="30" dur="500"/>
                                        <p:tgtEl>
                                          <p:spTgt spid="102">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2">
                                            <p:txEl>
                                              <p:pRg st="4" end="4"/>
                                            </p:txEl>
                                          </p:spTgt>
                                        </p:tgtEl>
                                        <p:attrNameLst>
                                          <p:attrName>style.visibility</p:attrName>
                                        </p:attrNameLst>
                                      </p:cBhvr>
                                      <p:to>
                                        <p:strVal val="visible"/>
                                      </p:to>
                                    </p:set>
                                    <p:animEffect transition="in" filter="fade">
                                      <p:cBhvr>
                                        <p:cTn id="35" dur="500"/>
                                        <p:tgtEl>
                                          <p:spTgt spid="102">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2">
                                            <p:txEl>
                                              <p:pRg st="5" end="5"/>
                                            </p:txEl>
                                          </p:spTgt>
                                        </p:tgtEl>
                                        <p:attrNameLst>
                                          <p:attrName>style.visibility</p:attrName>
                                        </p:attrNameLst>
                                      </p:cBhvr>
                                      <p:to>
                                        <p:strVal val="visible"/>
                                      </p:to>
                                    </p:set>
                                    <p:animEffect transition="in" filter="fade">
                                      <p:cBhvr>
                                        <p:cTn id="40" dur="500"/>
                                        <p:tgtEl>
                                          <p:spTgt spid="102">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02">
                                            <p:txEl>
                                              <p:pRg st="7" end="7"/>
                                            </p:txEl>
                                          </p:spTgt>
                                        </p:tgtEl>
                                        <p:attrNameLst>
                                          <p:attrName>style.visibility</p:attrName>
                                        </p:attrNameLst>
                                      </p:cBhvr>
                                      <p:to>
                                        <p:strVal val="visible"/>
                                      </p:to>
                                    </p:set>
                                    <p:animEffect transition="in" filter="fade">
                                      <p:cBhvr>
                                        <p:cTn id="45" dur="500"/>
                                        <p:tgtEl>
                                          <p:spTgt spid="10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0" y="375925"/>
            <a:ext cx="6321600" cy="635400"/>
          </a:xfrm>
          <a:prstGeom prst="rect">
            <a:avLst/>
          </a:prstGeom>
        </p:spPr>
        <p:txBody>
          <a:bodyPr spcFirstLastPara="1" wrap="square" lIns="91425" tIns="91425" rIns="91425" bIns="91425" anchor="t" anchorCtr="0">
            <a:noAutofit/>
          </a:bodyPr>
          <a:lstStyle/>
          <a:p>
            <a:pPr marL="190500" algn="l">
              <a:lnSpc>
                <a:spcPct val="120000"/>
              </a:lnSpc>
              <a:spcAft>
                <a:spcPts val="500"/>
              </a:spcAft>
            </a:pPr>
            <a:r>
              <a:rPr lang="en-US" sz="2800" dirty="0">
                <a:latin typeface="Trebuchet MS" panose="020B0603020202020204" pitchFamily="34" charset="0"/>
              </a:rPr>
              <a:t>Comparative </a:t>
            </a:r>
            <a:br>
              <a:rPr lang="en-US" sz="2800" dirty="0">
                <a:latin typeface="Trebuchet MS" panose="020B0603020202020204" pitchFamily="34" charset="0"/>
              </a:rPr>
            </a:br>
            <a:r>
              <a:rPr lang="en-US" sz="2800" dirty="0">
                <a:latin typeface="Trebuchet MS" panose="020B0603020202020204" pitchFamily="34" charset="0"/>
              </a:rPr>
              <a:t>Study</a:t>
            </a:r>
            <a:br>
              <a:rPr lang="en-US" sz="2800" dirty="0">
                <a:latin typeface="Trebuchet MS" panose="020B0603020202020204" pitchFamily="34" charset="0"/>
              </a:rPr>
            </a:br>
            <a:r>
              <a:rPr lang="en-US" sz="2800" dirty="0">
                <a:latin typeface="Trebuchet MS" panose="020B0603020202020204" pitchFamily="34" charset="0"/>
              </a:rPr>
              <a:t>Between</a:t>
            </a:r>
            <a:br>
              <a:rPr lang="en-US" sz="2800" dirty="0">
                <a:latin typeface="Trebuchet MS" panose="020B0603020202020204" pitchFamily="34" charset="0"/>
              </a:rPr>
            </a:br>
            <a:r>
              <a:rPr lang="en-US" sz="2800" dirty="0">
                <a:latin typeface="Trebuchet MS" panose="020B0603020202020204" pitchFamily="34" charset="0"/>
              </a:rPr>
              <a:t>Cloud Based</a:t>
            </a:r>
            <a:br>
              <a:rPr lang="en-US" sz="2800" dirty="0">
                <a:latin typeface="Trebuchet MS" panose="020B0603020202020204" pitchFamily="34" charset="0"/>
              </a:rPr>
            </a:br>
            <a:r>
              <a:rPr lang="en-US" sz="2800" dirty="0">
                <a:latin typeface="Trebuchet MS" panose="020B0603020202020204" pitchFamily="34" charset="0"/>
              </a:rPr>
              <a:t>Software</a:t>
            </a:r>
            <a:br>
              <a:rPr lang="en-US" sz="2800" dirty="0">
                <a:latin typeface="Trebuchet MS" panose="020B0603020202020204" pitchFamily="34" charset="0"/>
              </a:rPr>
            </a:br>
            <a:br>
              <a:rPr lang="en-US" sz="2800" dirty="0">
                <a:latin typeface="Trebuchet MS" panose="020B0603020202020204" pitchFamily="34" charset="0"/>
              </a:rPr>
            </a:br>
            <a:endParaRPr lang="en-US" sz="2350" dirty="0">
              <a:solidFill>
                <a:schemeClr val="tx1"/>
              </a:solidFill>
              <a:highlight>
                <a:srgbClr val="FFFFFF"/>
              </a:highlight>
              <a:latin typeface="Trebuchet MS" panose="020B0603020202020204" pitchFamily="34" charset="0"/>
              <a:ea typeface="Trebuchet MS"/>
              <a:cs typeface="Trebuchet MS"/>
              <a:sym typeface="Trebuchet MS"/>
            </a:endParaRPr>
          </a:p>
        </p:txBody>
      </p:sp>
      <p:pic>
        <p:nvPicPr>
          <p:cNvPr id="4" name="Picture 3" descr="Graphical user interface, application&#10;&#10;Description automatically generated">
            <a:extLst>
              <a:ext uri="{FF2B5EF4-FFF2-40B4-BE49-F238E27FC236}">
                <a16:creationId xmlns:a16="http://schemas.microsoft.com/office/drawing/2014/main" id="{86C1E875-F26C-4AFE-B51D-0DD73E22FB92}"/>
              </a:ext>
            </a:extLst>
          </p:cNvPr>
          <p:cNvPicPr>
            <a:picLocks noChangeAspect="1"/>
          </p:cNvPicPr>
          <p:nvPr/>
        </p:nvPicPr>
        <p:blipFill rotWithShape="1">
          <a:blip r:embed="rId3"/>
          <a:srcRect t="4629" b="51075"/>
          <a:stretch/>
        </p:blipFill>
        <p:spPr>
          <a:xfrm>
            <a:off x="2409825" y="909637"/>
            <a:ext cx="6223754" cy="3324225"/>
          </a:xfrm>
          <a:prstGeom prst="rect">
            <a:avLst/>
          </a:prstGeom>
        </p:spPr>
      </p:pic>
    </p:spTree>
    <p:extLst>
      <p:ext uri="{BB962C8B-B14F-4D97-AF65-F5344CB8AC3E}">
        <p14:creationId xmlns:p14="http://schemas.microsoft.com/office/powerpoint/2010/main" val="11079977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5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0" y="347350"/>
            <a:ext cx="6321600" cy="635400"/>
          </a:xfrm>
          <a:prstGeom prst="rect">
            <a:avLst/>
          </a:prstGeom>
        </p:spPr>
        <p:txBody>
          <a:bodyPr spcFirstLastPara="1" wrap="square" lIns="91425" tIns="91425" rIns="91425" bIns="91425" anchor="t" anchorCtr="0">
            <a:noAutofit/>
          </a:bodyPr>
          <a:lstStyle/>
          <a:p>
            <a:pPr marL="190500" algn="l">
              <a:lnSpc>
                <a:spcPct val="120000"/>
              </a:lnSpc>
              <a:spcAft>
                <a:spcPts val="500"/>
              </a:spcAft>
            </a:pPr>
            <a:r>
              <a:rPr lang="en-US" sz="2800" dirty="0">
                <a:latin typeface="Trebuchet MS" panose="020B0603020202020204" pitchFamily="34" charset="0"/>
              </a:rPr>
              <a:t>Comparative </a:t>
            </a:r>
            <a:br>
              <a:rPr lang="en-US" sz="2800" dirty="0">
                <a:latin typeface="Trebuchet MS" panose="020B0603020202020204" pitchFamily="34" charset="0"/>
              </a:rPr>
            </a:br>
            <a:r>
              <a:rPr lang="en-US" sz="2800" dirty="0">
                <a:latin typeface="Trebuchet MS" panose="020B0603020202020204" pitchFamily="34" charset="0"/>
              </a:rPr>
              <a:t>Study</a:t>
            </a:r>
            <a:br>
              <a:rPr lang="en-US" sz="2800" dirty="0">
                <a:latin typeface="Trebuchet MS" panose="020B0603020202020204" pitchFamily="34" charset="0"/>
              </a:rPr>
            </a:br>
            <a:r>
              <a:rPr lang="en-US" sz="2800" dirty="0">
                <a:latin typeface="Trebuchet MS" panose="020B0603020202020204" pitchFamily="34" charset="0"/>
              </a:rPr>
              <a:t>Between</a:t>
            </a:r>
            <a:br>
              <a:rPr lang="en-US" sz="2800" dirty="0">
                <a:latin typeface="Trebuchet MS" panose="020B0603020202020204" pitchFamily="34" charset="0"/>
              </a:rPr>
            </a:br>
            <a:r>
              <a:rPr lang="en-US" sz="2800" dirty="0">
                <a:latin typeface="Trebuchet MS" panose="020B0603020202020204" pitchFamily="34" charset="0"/>
              </a:rPr>
              <a:t>Cloud Based</a:t>
            </a:r>
            <a:br>
              <a:rPr lang="en-US" sz="2800" dirty="0">
                <a:latin typeface="Trebuchet MS" panose="020B0603020202020204" pitchFamily="34" charset="0"/>
              </a:rPr>
            </a:br>
            <a:r>
              <a:rPr lang="en-US" sz="2800" dirty="0">
                <a:latin typeface="Trebuchet MS" panose="020B0603020202020204" pitchFamily="34" charset="0"/>
              </a:rPr>
              <a:t>Software</a:t>
            </a:r>
            <a:endParaRPr lang="en-US" sz="2350" dirty="0">
              <a:solidFill>
                <a:schemeClr val="tx1"/>
              </a:solidFill>
              <a:highlight>
                <a:srgbClr val="FFFFFF"/>
              </a:highlight>
              <a:latin typeface="Trebuchet MS" panose="020B0603020202020204" pitchFamily="34" charset="0"/>
              <a:ea typeface="Trebuchet MS"/>
              <a:cs typeface="Trebuchet MS"/>
              <a:sym typeface="Trebuchet MS"/>
            </a:endParaRPr>
          </a:p>
        </p:txBody>
      </p:sp>
      <p:pic>
        <p:nvPicPr>
          <p:cNvPr id="4" name="Picture 3" descr="Graphical user interface, application&#10;&#10;Description automatically generated">
            <a:extLst>
              <a:ext uri="{FF2B5EF4-FFF2-40B4-BE49-F238E27FC236}">
                <a16:creationId xmlns:a16="http://schemas.microsoft.com/office/drawing/2014/main" id="{86C1E875-F26C-4AFE-B51D-0DD73E22FB92}"/>
              </a:ext>
            </a:extLst>
          </p:cNvPr>
          <p:cNvPicPr>
            <a:picLocks noChangeAspect="1"/>
          </p:cNvPicPr>
          <p:nvPr/>
        </p:nvPicPr>
        <p:blipFill rotWithShape="1">
          <a:blip r:embed="rId3"/>
          <a:srcRect l="-152" t="51971" r="152" b="3733"/>
          <a:stretch/>
        </p:blipFill>
        <p:spPr>
          <a:xfrm>
            <a:off x="2409825" y="909637"/>
            <a:ext cx="6223754" cy="3324225"/>
          </a:xfrm>
          <a:prstGeom prst="rect">
            <a:avLst/>
          </a:prstGeom>
        </p:spPr>
      </p:pic>
    </p:spTree>
    <p:extLst>
      <p:ext uri="{BB962C8B-B14F-4D97-AF65-F5344CB8AC3E}">
        <p14:creationId xmlns:p14="http://schemas.microsoft.com/office/powerpoint/2010/main" val="17721089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1"/>
          <p:cNvSpPr txBox="1">
            <a:spLocks noGrp="1"/>
          </p:cNvSpPr>
          <p:nvPr>
            <p:ph type="title"/>
          </p:nvPr>
        </p:nvSpPr>
        <p:spPr>
          <a:xfrm>
            <a:off x="236925" y="1548825"/>
            <a:ext cx="4045200" cy="131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latin typeface="Trebuchet MS" panose="020B0603020202020204" pitchFamily="34" charset="0"/>
              </a:rPr>
              <a:t>The End</a:t>
            </a:r>
            <a:endParaRPr dirty="0">
              <a:latin typeface="Trebuchet MS" panose="020B0603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fade">
                                      <p:cBhvr>
                                        <p:cTn id="7" dur="5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 grpId="0"/>
    </p:bldLst>
  </p:timing>
</p:sld>
</file>

<file path=ppt/theme/theme1.xml><?xml version="1.0" encoding="utf-8"?>
<a:theme xmlns:a="http://schemas.openxmlformats.org/drawingml/2006/main"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TotalTime>
  <Words>1142</Words>
  <Application>Microsoft Office PowerPoint</Application>
  <PresentationFormat>On-screen Show (16:9)</PresentationFormat>
  <Paragraphs>147</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Lato</vt:lpstr>
      <vt:lpstr>Raleway</vt:lpstr>
      <vt:lpstr>Trebuchet MS</vt:lpstr>
      <vt:lpstr>Roboto</vt:lpstr>
      <vt:lpstr>Arial</vt:lpstr>
      <vt:lpstr>Swiss</vt:lpstr>
      <vt:lpstr>Text Analytics</vt:lpstr>
      <vt:lpstr>Text Analytics Overview</vt:lpstr>
      <vt:lpstr>Text Analytics: Operations</vt:lpstr>
      <vt:lpstr>Use Cases</vt:lpstr>
      <vt:lpstr>Text Analytics Software</vt:lpstr>
      <vt:lpstr>Apache OpenNLP</vt:lpstr>
      <vt:lpstr>Stanford's CoreNLP</vt:lpstr>
      <vt:lpstr>GATE &amp; Apache UIMA</vt:lpstr>
      <vt:lpstr>GATE &amp; Apache UIMA</vt:lpstr>
      <vt:lpstr>SpaCy</vt:lpstr>
      <vt:lpstr>SpaCy</vt:lpstr>
      <vt:lpstr>SpaCy</vt:lpstr>
      <vt:lpstr>Text Analytics Software</vt:lpstr>
      <vt:lpstr>Amazon Comprehend</vt:lpstr>
      <vt:lpstr>Amazon Comprehend</vt:lpstr>
      <vt:lpstr>IBM Watson</vt:lpstr>
      <vt:lpstr>Google Cloud Natural Language API</vt:lpstr>
      <vt:lpstr>Microsoft Azure Text Analytics API</vt:lpstr>
      <vt:lpstr>Comparative  Study Between Cloud Based Software  </vt:lpstr>
      <vt:lpstr>Comparative  Study Between Cloud Based Software</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 Analytics</dc:title>
  <dc:creator>Rajesh</dc:creator>
  <cp:lastModifiedBy>Ayush Guraria</cp:lastModifiedBy>
  <cp:revision>16</cp:revision>
  <dcterms:modified xsi:type="dcterms:W3CDTF">2021-06-29T09:56:04Z</dcterms:modified>
</cp:coreProperties>
</file>